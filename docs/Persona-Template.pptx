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notesMasterIdLst>
    <p:notesMasterId r:id="rId11"/>
  </p:notesMasterIdLst>
  <p:handoutMasterIdLst>
    <p:handoutMasterId r:id="rId12"/>
  </p:handoutMasterIdLst>
  <p:sldIdLst>
    <p:sldId id="259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90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utsch" id="{9096B111-35A6-4196-97E0-A5F04BC89697}">
          <p14:sldIdLst>
            <p14:sldId id="259"/>
            <p14:sldId id="258"/>
          </p14:sldIdLst>
        </p14:section>
        <p14:section name="Englisch" id="{ED522826-D78A-4604-8359-4919B1DCFF33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CE15C-8DF6-405E-90EE-C1287831603C}" v="2" dt="2022-12-07T09:30:05.015"/>
  </p1510:revLst>
</p1510:revInfo>
</file>

<file path=ppt/tableStyles.xml><?xml version="1.0" encoding="utf-8"?>
<a:tblStyleLst xmlns:a="http://schemas.openxmlformats.org/drawingml/2006/main" def="{3B499C51-E065-441F-A7F9-1BCB1B5F97B9}">
  <a:tblStyle styleId="{3B499C51-E065-441F-A7F9-1BCB1B5F97B9}" styleName="msg systems Standardtabelle">
    <a:wholeTbl>
      <a:tcTxStyle>
        <a:fontRef idx="minor">
          <a:scrgbClr r="0" g="0" b="0"/>
        </a:fontRef>
        <a:schemeClr val="tx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9525" cmpd="sng">
              <a:solidFill>
                <a:schemeClr val="accent3"/>
              </a:solidFill>
            </a:ln>
          </a:insideH>
          <a:insideV>
            <a:ln w="9525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>
        <a:schemeClr val="accent1"/>
      </a:tcTxStyle>
      <a:tcStyle>
        <a:tcBdr>
          <a:bottom>
            <a:ln w="9525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Nutsi" userId="0a457da3-d15c-423d-8819-7f3dfe722bb7" providerId="ADAL" clId="{4FBCE15C-8DF6-405E-90EE-C1287831603C}"/>
    <pc:docChg chg="undo custSel delSld modSld delSection modSection">
      <pc:chgData name="Andrea Nutsi" userId="0a457da3-d15c-423d-8819-7f3dfe722bb7" providerId="ADAL" clId="{4FBCE15C-8DF6-405E-90EE-C1287831603C}" dt="2022-12-07T09:30:05.015" v="46" actId="20577"/>
      <pc:docMkLst>
        <pc:docMk/>
      </pc:docMkLst>
      <pc:sldChg chg="addSp delSp modSp mod">
        <pc:chgData name="Andrea Nutsi" userId="0a457da3-d15c-423d-8819-7f3dfe722bb7" providerId="ADAL" clId="{4FBCE15C-8DF6-405E-90EE-C1287831603C}" dt="2022-12-07T09:30:05.015" v="46" actId="20577"/>
        <pc:sldMkLst>
          <pc:docMk/>
          <pc:sldMk cId="3727245478" sldId="258"/>
        </pc:sldMkLst>
        <pc:spChg chg="mod">
          <ac:chgData name="Andrea Nutsi" userId="0a457da3-d15c-423d-8819-7f3dfe722bb7" providerId="ADAL" clId="{4FBCE15C-8DF6-405E-90EE-C1287831603C}" dt="2022-12-07T09:30:05.015" v="46" actId="20577"/>
          <ac:spMkLst>
            <pc:docMk/>
            <pc:sldMk cId="3727245478" sldId="258"/>
            <ac:spMk id="3" creationId="{1CEB9893-A9DD-4B60-81A1-A5DEF6A52B3D}"/>
          </ac:spMkLst>
        </pc:spChg>
        <pc:spChg chg="mod">
          <ac:chgData name="Andrea Nutsi" userId="0a457da3-d15c-423d-8819-7f3dfe722bb7" providerId="ADAL" clId="{4FBCE15C-8DF6-405E-90EE-C1287831603C}" dt="2022-12-07T09:26:50.432" v="8" actId="20577"/>
          <ac:spMkLst>
            <pc:docMk/>
            <pc:sldMk cId="3727245478" sldId="258"/>
            <ac:spMk id="5" creationId="{9B18FA96-C3C2-430C-ABFA-05EAFD98B2D0}"/>
          </ac:spMkLst>
        </pc:spChg>
        <pc:spChg chg="mod">
          <ac:chgData name="Andrea Nutsi" userId="0a457da3-d15c-423d-8819-7f3dfe722bb7" providerId="ADAL" clId="{4FBCE15C-8DF6-405E-90EE-C1287831603C}" dt="2022-12-07T09:26:40.749" v="3" actId="20577"/>
          <ac:spMkLst>
            <pc:docMk/>
            <pc:sldMk cId="3727245478" sldId="258"/>
            <ac:spMk id="6" creationId="{C3F2265F-110C-4A80-A45A-5244CF14DBD7}"/>
          </ac:spMkLst>
        </pc:spChg>
        <pc:spChg chg="mod">
          <ac:chgData name="Andrea Nutsi" userId="0a457da3-d15c-423d-8819-7f3dfe722bb7" providerId="ADAL" clId="{4FBCE15C-8DF6-405E-90EE-C1287831603C}" dt="2022-12-07T09:27:15.015" v="18" actId="6549"/>
          <ac:spMkLst>
            <pc:docMk/>
            <pc:sldMk cId="3727245478" sldId="258"/>
            <ac:spMk id="67" creationId="{05163B3D-035A-E640-8D80-D260C5424DCC}"/>
          </ac:spMkLst>
        </pc:spChg>
        <pc:spChg chg="mod">
          <ac:chgData name="Andrea Nutsi" userId="0a457da3-d15c-423d-8819-7f3dfe722bb7" providerId="ADAL" clId="{4FBCE15C-8DF6-405E-90EE-C1287831603C}" dt="2022-12-07T09:28:00.962" v="37" actId="6549"/>
          <ac:spMkLst>
            <pc:docMk/>
            <pc:sldMk cId="3727245478" sldId="258"/>
            <ac:spMk id="73" creationId="{9E3D5E49-93F9-F446-96AB-5BD470FDD35B}"/>
          </ac:spMkLst>
        </pc:spChg>
        <pc:spChg chg="del">
          <ac:chgData name="Andrea Nutsi" userId="0a457da3-d15c-423d-8819-7f3dfe722bb7" providerId="ADAL" clId="{4FBCE15C-8DF6-405E-90EE-C1287831603C}" dt="2022-12-07T09:28:02.053" v="38" actId="478"/>
          <ac:spMkLst>
            <pc:docMk/>
            <pc:sldMk cId="3727245478" sldId="258"/>
            <ac:spMk id="75" creationId="{8210B1A5-F76F-4649-BC3A-7C00A8AD9931}"/>
          </ac:spMkLst>
        </pc:spChg>
        <pc:spChg chg="del">
          <ac:chgData name="Andrea Nutsi" userId="0a457da3-d15c-423d-8819-7f3dfe722bb7" providerId="ADAL" clId="{4FBCE15C-8DF6-405E-90EE-C1287831603C}" dt="2022-12-07T09:27:49.733" v="34" actId="478"/>
          <ac:spMkLst>
            <pc:docMk/>
            <pc:sldMk cId="3727245478" sldId="258"/>
            <ac:spMk id="77" creationId="{70A04BB4-7D10-0F4F-B359-AFEEC124BA51}"/>
          </ac:spMkLst>
        </pc:spChg>
        <pc:spChg chg="del">
          <ac:chgData name="Andrea Nutsi" userId="0a457da3-d15c-423d-8819-7f3dfe722bb7" providerId="ADAL" clId="{4FBCE15C-8DF6-405E-90EE-C1287831603C}" dt="2022-12-07T09:27:43.374" v="31" actId="478"/>
          <ac:spMkLst>
            <pc:docMk/>
            <pc:sldMk cId="3727245478" sldId="258"/>
            <ac:spMk id="79" creationId="{46BB67F3-5C41-7D4C-A94B-9FE028FF7435}"/>
          </ac:spMkLst>
        </pc:spChg>
        <pc:spChg chg="del">
          <ac:chgData name="Andrea Nutsi" userId="0a457da3-d15c-423d-8819-7f3dfe722bb7" providerId="ADAL" clId="{4FBCE15C-8DF6-405E-90EE-C1287831603C}" dt="2022-12-07T09:27:38.732" v="30" actId="478"/>
          <ac:spMkLst>
            <pc:docMk/>
            <pc:sldMk cId="3727245478" sldId="258"/>
            <ac:spMk id="81" creationId="{04E00CEB-52EC-F142-B292-1384FC2B9D09}"/>
          </ac:spMkLst>
        </pc:spChg>
        <pc:spChg chg="del">
          <ac:chgData name="Andrea Nutsi" userId="0a457da3-d15c-423d-8819-7f3dfe722bb7" providerId="ADAL" clId="{4FBCE15C-8DF6-405E-90EE-C1287831603C}" dt="2022-12-07T09:27:28.738" v="24" actId="478"/>
          <ac:spMkLst>
            <pc:docMk/>
            <pc:sldMk cId="3727245478" sldId="258"/>
            <ac:spMk id="86" creationId="{6A54936C-90FC-9048-9CEA-76FC61B51FDD}"/>
          </ac:spMkLst>
        </pc:spChg>
        <pc:spChg chg="add del">
          <ac:chgData name="Andrea Nutsi" userId="0a457da3-d15c-423d-8819-7f3dfe722bb7" providerId="ADAL" clId="{4FBCE15C-8DF6-405E-90EE-C1287831603C}" dt="2022-12-07T09:27:31.412" v="26" actId="478"/>
          <ac:spMkLst>
            <pc:docMk/>
            <pc:sldMk cId="3727245478" sldId="258"/>
            <ac:spMk id="87" creationId="{ECC7912E-E9F9-6346-807E-2BCEC2E581CA}"/>
          </ac:spMkLst>
        </pc:spChg>
        <pc:spChg chg="del">
          <ac:chgData name="Andrea Nutsi" userId="0a457da3-d15c-423d-8819-7f3dfe722bb7" providerId="ADAL" clId="{4FBCE15C-8DF6-405E-90EE-C1287831603C}" dt="2022-12-07T09:27:34.466" v="27" actId="478"/>
          <ac:spMkLst>
            <pc:docMk/>
            <pc:sldMk cId="3727245478" sldId="258"/>
            <ac:spMk id="90" creationId="{5E9816BD-FF04-ED4F-A134-9504CBCE4EFB}"/>
          </ac:spMkLst>
        </pc:spChg>
        <pc:spChg chg="del">
          <ac:chgData name="Andrea Nutsi" userId="0a457da3-d15c-423d-8819-7f3dfe722bb7" providerId="ADAL" clId="{4FBCE15C-8DF6-405E-90EE-C1287831603C}" dt="2022-12-07T09:27:35.282" v="28" actId="478"/>
          <ac:spMkLst>
            <pc:docMk/>
            <pc:sldMk cId="3727245478" sldId="258"/>
            <ac:spMk id="91" creationId="{EE4359DA-A6B9-8D45-80D3-2A75204BD7AB}"/>
          </ac:spMkLst>
        </pc:spChg>
        <pc:spChg chg="del">
          <ac:chgData name="Andrea Nutsi" userId="0a457da3-d15c-423d-8819-7f3dfe722bb7" providerId="ADAL" clId="{4FBCE15C-8DF6-405E-90EE-C1287831603C}" dt="2022-12-07T09:27:36.466" v="29" actId="478"/>
          <ac:spMkLst>
            <pc:docMk/>
            <pc:sldMk cId="3727245478" sldId="258"/>
            <ac:spMk id="92" creationId="{07D7AB5F-A866-7145-A72E-E6F2F2061B6A}"/>
          </ac:spMkLst>
        </pc:spChg>
        <pc:spChg chg="del">
          <ac:chgData name="Andrea Nutsi" userId="0a457da3-d15c-423d-8819-7f3dfe722bb7" providerId="ADAL" clId="{4FBCE15C-8DF6-405E-90EE-C1287831603C}" dt="2022-12-07T09:27:03.212" v="10" actId="478"/>
          <ac:spMkLst>
            <pc:docMk/>
            <pc:sldMk cId="3727245478" sldId="258"/>
            <ac:spMk id="94" creationId="{056AA912-3BB2-1B40-9EDF-7DDFD9B9663E}"/>
          </ac:spMkLst>
        </pc:spChg>
        <pc:spChg chg="del">
          <ac:chgData name="Andrea Nutsi" userId="0a457da3-d15c-423d-8819-7f3dfe722bb7" providerId="ADAL" clId="{4FBCE15C-8DF6-405E-90EE-C1287831603C}" dt="2022-12-07T09:27:01.781" v="9" actId="478"/>
          <ac:spMkLst>
            <pc:docMk/>
            <pc:sldMk cId="3727245478" sldId="258"/>
            <ac:spMk id="97" creationId="{D6032585-A72B-0E48-99BD-D1D4445B4D65}"/>
          </ac:spMkLst>
        </pc:spChg>
        <pc:spChg chg="del">
          <ac:chgData name="Andrea Nutsi" userId="0a457da3-d15c-423d-8819-7f3dfe722bb7" providerId="ADAL" clId="{4FBCE15C-8DF6-405E-90EE-C1287831603C}" dt="2022-12-07T09:27:04.602" v="11" actId="478"/>
          <ac:spMkLst>
            <pc:docMk/>
            <pc:sldMk cId="3727245478" sldId="258"/>
            <ac:spMk id="102" creationId="{3E2E48CB-55ED-C149-8110-D8100CEEDCF6}"/>
          </ac:spMkLst>
        </pc:spChg>
        <pc:spChg chg="del">
          <ac:chgData name="Andrea Nutsi" userId="0a457da3-d15c-423d-8819-7f3dfe722bb7" providerId="ADAL" clId="{4FBCE15C-8DF6-405E-90EE-C1287831603C}" dt="2022-12-07T09:27:07.897" v="13" actId="478"/>
          <ac:spMkLst>
            <pc:docMk/>
            <pc:sldMk cId="3727245478" sldId="258"/>
            <ac:spMk id="105" creationId="{FBBA0CB5-68F1-A446-8048-E98FDAE6183C}"/>
          </ac:spMkLst>
        </pc:spChg>
        <pc:spChg chg="del">
          <ac:chgData name="Andrea Nutsi" userId="0a457da3-d15c-423d-8819-7f3dfe722bb7" providerId="ADAL" clId="{4FBCE15C-8DF6-405E-90EE-C1287831603C}" dt="2022-12-07T09:27:05.953" v="12" actId="478"/>
          <ac:spMkLst>
            <pc:docMk/>
            <pc:sldMk cId="3727245478" sldId="258"/>
            <ac:spMk id="108" creationId="{1116E969-AF8E-5449-9379-0F009A344BA9}"/>
          </ac:spMkLst>
        </pc:spChg>
        <pc:spChg chg="mod">
          <ac:chgData name="Andrea Nutsi" userId="0a457da3-d15c-423d-8819-7f3dfe722bb7" providerId="ADAL" clId="{4FBCE15C-8DF6-405E-90EE-C1287831603C}" dt="2022-12-07T09:27:25.748" v="23" actId="121"/>
          <ac:spMkLst>
            <pc:docMk/>
            <pc:sldMk cId="3727245478" sldId="258"/>
            <ac:spMk id="109" creationId="{D582E82C-DFD6-E748-BF3F-6C5539667780}"/>
          </ac:spMkLst>
        </pc:spChg>
      </pc:sldChg>
      <pc:sldChg chg="modSp mod">
        <pc:chgData name="Andrea Nutsi" userId="0a457da3-d15c-423d-8819-7f3dfe722bb7" providerId="ADAL" clId="{4FBCE15C-8DF6-405E-90EE-C1287831603C}" dt="2022-12-07T09:29:56.038" v="43" actId="20577"/>
        <pc:sldMkLst>
          <pc:docMk/>
          <pc:sldMk cId="2020194323" sldId="259"/>
        </pc:sldMkLst>
        <pc:spChg chg="mod">
          <ac:chgData name="Andrea Nutsi" userId="0a457da3-d15c-423d-8819-7f3dfe722bb7" providerId="ADAL" clId="{4FBCE15C-8DF6-405E-90EE-C1287831603C}" dt="2022-12-07T09:29:56.038" v="43" actId="20577"/>
          <ac:spMkLst>
            <pc:docMk/>
            <pc:sldMk cId="2020194323" sldId="259"/>
            <ac:spMk id="3" creationId="{1CEB9893-A9DD-4B60-81A1-A5DEF6A52B3D}"/>
          </ac:spMkLst>
        </pc:spChg>
      </pc:sldChg>
      <pc:sldChg chg="del">
        <pc:chgData name="Andrea Nutsi" userId="0a457da3-d15c-423d-8819-7f3dfe722bb7" providerId="ADAL" clId="{4FBCE15C-8DF6-405E-90EE-C1287831603C}" dt="2022-12-07T09:26:32.632" v="0" actId="47"/>
        <pc:sldMkLst>
          <pc:docMk/>
          <pc:sldMk cId="3508780352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6CCC16E-228D-43D2-8390-31111086E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045F98-938A-49AC-BE05-5688D63C2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53045-7CB0-45FC-B08A-AB6ECF2A2C91}" type="datetimeFigureOut">
              <a:rPr lang="de-DE" sz="1000" smtClean="0">
                <a:solidFill>
                  <a:schemeClr val="tx2"/>
                </a:solidFill>
              </a:rPr>
              <a:t>14.01.2026</a:t>
            </a:fld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83A03F-57E6-4F67-AAE5-AA325AAE3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2D2B52-0026-41B5-AD45-1FB521DB5D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D932-A563-4BE9-A9BD-2FD44D180931}" type="slidenum">
              <a:rPr lang="de-DE" sz="1000" smtClean="0">
                <a:solidFill>
                  <a:schemeClr val="tx2"/>
                </a:solidFill>
              </a:rPr>
              <a:t>‹Nr.›</a:t>
            </a:fld>
            <a:endParaRPr lang="de-DE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36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33C12E-3F61-468E-BC90-EC3528E23546}" type="datetimeFigureOut">
              <a:rPr lang="de-DE" smtClean="0"/>
              <a:pPr/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</a:pPr>
            <a:r>
              <a:rPr lang="de-DE"/>
              <a:t>Mastertextformat bearbeiten</a:t>
            </a:r>
          </a:p>
          <a:p>
            <a:pPr marL="144000" lvl="1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Zweite Ebene</a:t>
            </a:r>
          </a:p>
          <a:p>
            <a:pPr marL="540000" lvl="2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Dritte Ebene</a:t>
            </a:r>
          </a:p>
          <a:p>
            <a:pPr marL="900000" lvl="3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marL="1260000" lvl="4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EA03A34-464E-4330-B842-BE15B10045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86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4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0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Abschnitte in diesem Template stellen lediglich einen Vorschlag dar. Sie entsprechen den gängigsten Merkmalen einer Persona. Sie können für einen Projekteinsatz angepasst werden. </a:t>
            </a:r>
            <a:endParaRPr lang="de-DE"/>
          </a:p>
          <a:p>
            <a:endParaRPr lang="de-DE"/>
          </a:p>
          <a:p>
            <a:r>
              <a:rPr lang="de-DE" dirty="0"/>
              <a:t>Weitere Informationen: https://user-experience-methods.com/02_define/persona.html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72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Abschnitte in diesem Template stellen lediglich einen Vorschlag dar. Sie entsprechen den gängigsten Merkmalen einer Persona. Sie können für einen Projekteinsatz angepasst werden. </a:t>
            </a:r>
          </a:p>
          <a:p>
            <a:endParaRPr lang="de-DE"/>
          </a:p>
          <a:p>
            <a:r>
              <a:rPr lang="de-DE" dirty="0"/>
              <a:t>Weitere Informationen: https://user-experience-methods.com/02_define/persona.html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701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8813-9C42-E5CE-DF1B-F7C190F1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1B00CC-8156-BAC5-5D9A-9229F9EB9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E05B29E-AB29-1A5F-6CEF-3DBF8B8D8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95A055-CC17-30C8-C08E-05A2489D8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9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7945-6FC6-561B-377D-69A4B19E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E26488-096E-CEA1-BA4C-8CF8CBB5D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870F6A-5F9B-4D40-553D-9CFD0C403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1101D2-FA7F-B73B-69B9-559BCCB9F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03A34-464E-4330-B842-BE15B1004585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01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75DD5F44-5ACF-4E59-A40C-C93A07A5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375" y="2854800"/>
            <a:ext cx="10510838" cy="16560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4561200"/>
            <a:ext cx="10510838" cy="1604650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90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72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BB1CD-B35E-B349-8A4B-4997CD921C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1374" y="1867792"/>
            <a:ext cx="1594681" cy="159468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de-DE"/>
              <a:t>Portrait-Foto hier einfügen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31541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BB1CD-B35E-B349-8A4B-4997CD921C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1374" y="1867792"/>
            <a:ext cx="1594681" cy="159468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de-DE" dirty="0"/>
              <a:t>Add </a:t>
            </a:r>
            <a:r>
              <a:rPr lang="de-DE" dirty="0" err="1"/>
              <a:t>portrait</a:t>
            </a:r>
            <a:r>
              <a:rPr lang="de-DE" dirty="0"/>
              <a:t> </a:t>
            </a:r>
            <a:r>
              <a:rPr lang="de-DE" dirty="0" err="1"/>
              <a:t>photo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243819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5721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03ECAFD-9781-4257-B351-7F0273D72724}"/>
              </a:ext>
            </a:extLst>
          </p:cNvPr>
          <p:cNvSpPr txBox="1">
            <a:spLocks/>
          </p:cNvSpPr>
          <p:nvPr/>
        </p:nvSpPr>
        <p:spPr>
          <a:xfrm>
            <a:off x="0" y="1055675"/>
            <a:ext cx="12192000" cy="21748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  <a:tileRect/>
          </a:gradFill>
          <a:effectLst/>
        </p:spPr>
        <p:txBody>
          <a:bodyPr vert="horz" wrap="none" lIns="91440" tIns="45720" rIns="91440" bIns="45720" rtlCol="0" anchor="ctr">
            <a:noAutofit/>
          </a:bodyPr>
          <a:lstStyle>
            <a:lvl1pPr marL="720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rgbClr val="A01441"/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endParaRPr lang="de-DE" sz="300" b="1" i="0">
              <a:noFill/>
              <a:latin typeface="Calibri" panose="020F0502020204030204" pitchFamily="34" charset="0"/>
            </a:endParaRPr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08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8" r:id="rId3"/>
    <p:sldLayoutId id="2147483689" r:id="rId4"/>
    <p:sldLayoutId id="2147483687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067" userDrawn="1">
          <p15:clr>
            <a:srgbClr val="F26B43"/>
          </p15:clr>
        </p15:guide>
        <p15:guide id="4" pos="7151" userDrawn="1">
          <p15:clr>
            <a:srgbClr val="F26B43"/>
          </p15:clr>
        </p15:guide>
        <p15:guide id="5" pos="7469" userDrawn="1">
          <p15:clr>
            <a:srgbClr val="F26B43"/>
          </p15:clr>
        </p15:guide>
        <p15:guide id="6" orient="horz" pos="464" userDrawn="1">
          <p15:clr>
            <a:srgbClr val="F26B43"/>
          </p15:clr>
        </p15:guide>
        <p15:guide id="7" orient="horz" pos="800" userDrawn="1">
          <p15:clr>
            <a:srgbClr val="F26B43"/>
          </p15:clr>
        </p15:guide>
        <p15:guide id="8" orient="horz" pos="1163" userDrawn="1">
          <p15:clr>
            <a:srgbClr val="F26B43"/>
          </p15:clr>
        </p15:guide>
        <p15:guide id="9" orient="horz" pos="1481" userDrawn="1">
          <p15:clr>
            <a:srgbClr val="F26B43"/>
          </p15:clr>
        </p15:guide>
        <p15:guide id="10" orient="horz" pos="1797" userDrawn="1">
          <p15:clr>
            <a:srgbClr val="F26B43"/>
          </p15:clr>
        </p15:guide>
        <p15:guide id="11" orient="horz" pos="2024" userDrawn="1">
          <p15:clr>
            <a:srgbClr val="F26B43"/>
          </p15:clr>
        </p15:guide>
        <p15:guide id="12" orient="horz" pos="3884" userDrawn="1">
          <p15:clr>
            <a:srgbClr val="F26B43"/>
          </p15:clr>
        </p15:guide>
        <p15:guide id="13" orient="horz" pos="3974" userDrawn="1">
          <p15:clr>
            <a:srgbClr val="F26B43"/>
          </p15:clr>
        </p15:guide>
        <p15:guide id="14" orient="horz" pos="42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nthinking-methods.de/2Definition/persona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nthinking-methods.de/2Definition/persona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-experience-methods.com/en/02_define/persona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-experience-methods.com/en/02_define/persona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B18FA96-C3C2-430C-ABFA-05EAFD98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</p:spPr>
        <p:txBody>
          <a:bodyPr/>
          <a:lstStyle/>
          <a:p>
            <a:r>
              <a:rPr lang="de-DE" dirty="0"/>
              <a:t>Vorname:</a:t>
            </a:r>
            <a:br>
              <a:rPr lang="de-DE" dirty="0"/>
            </a:br>
            <a:r>
              <a:rPr lang="de-DE" dirty="0"/>
              <a:t>Nachname: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EB9893-A9DD-4B60-81A1-A5DEF6A52B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de-DE" dirty="0"/>
              <a:t>© msg systems ag | 2022 | </a:t>
            </a:r>
            <a:r>
              <a:rPr lang="de-DE" dirty="0">
                <a:hlinkClick r:id="rId3"/>
              </a:rPr>
              <a:t>https://designthinking-methods.de/2Definition/personas.html</a:t>
            </a:r>
            <a:r>
              <a:rPr lang="de-DE" dirty="0"/>
              <a:t>  </a:t>
            </a:r>
          </a:p>
        </p:txBody>
      </p:sp>
      <p:sp>
        <p:nvSpPr>
          <p:cNvPr id="64" name="Bildplatzhalter 63">
            <a:extLst>
              <a:ext uri="{FF2B5EF4-FFF2-40B4-BE49-F238E27FC236}">
                <a16:creationId xmlns:a16="http://schemas.microsoft.com/office/drawing/2014/main" id="{5BF01BD4-7F76-5A4B-98AA-809B25EA606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41375" y="1846529"/>
            <a:ext cx="1366572" cy="136657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F2265F-110C-4A80-A45A-5244CF14DBD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41375" y="198438"/>
            <a:ext cx="7480300" cy="215900"/>
          </a:xfrm>
        </p:spPr>
        <p:txBody>
          <a:bodyPr/>
          <a:lstStyle/>
          <a:p>
            <a:r>
              <a:rPr lang="de-DE" dirty="0"/>
              <a:t>Benutzergruppe:</a:t>
            </a:r>
          </a:p>
        </p:txBody>
      </p:sp>
      <p:sp>
        <p:nvSpPr>
          <p:cNvPr id="67" name="Textplatzhalter 24">
            <a:extLst>
              <a:ext uri="{FF2B5EF4-FFF2-40B4-BE49-F238E27FC236}">
                <a16:creationId xmlns:a16="http://schemas.microsoft.com/office/drawing/2014/main" id="{05163B3D-035A-E640-8D80-D260C5424DCC}"/>
              </a:ext>
            </a:extLst>
          </p:cNvPr>
          <p:cNvSpPr txBox="1">
            <a:spLocks/>
          </p:cNvSpPr>
          <p:nvPr/>
        </p:nvSpPr>
        <p:spPr>
          <a:xfrm>
            <a:off x="755885" y="3805573"/>
            <a:ext cx="2823728" cy="109701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Alter: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Job: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Familie: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Wohnort:	</a:t>
            </a:r>
          </a:p>
        </p:txBody>
      </p: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31DB0CD3-BAE1-354D-90D0-03817ECCF81C}"/>
              </a:ext>
            </a:extLst>
          </p:cNvPr>
          <p:cNvCxnSpPr/>
          <p:nvPr/>
        </p:nvCxnSpPr>
        <p:spPr>
          <a:xfrm>
            <a:off x="3771593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>
            <a:extLst>
              <a:ext uri="{FF2B5EF4-FFF2-40B4-BE49-F238E27FC236}">
                <a16:creationId xmlns:a16="http://schemas.microsoft.com/office/drawing/2014/main" id="{7C209D9C-9446-8D4A-B2AA-144C4DD83BB5}"/>
              </a:ext>
            </a:extLst>
          </p:cNvPr>
          <p:cNvCxnSpPr/>
          <p:nvPr/>
        </p:nvCxnSpPr>
        <p:spPr>
          <a:xfrm>
            <a:off x="7954223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nhaltsplatzhalter 19">
            <a:extLst>
              <a:ext uri="{FF2B5EF4-FFF2-40B4-BE49-F238E27FC236}">
                <a16:creationId xmlns:a16="http://schemas.microsoft.com/office/drawing/2014/main" id="{D96FD6A2-A9DC-D846-82E2-A801A5EF1FB1}"/>
              </a:ext>
            </a:extLst>
          </p:cNvPr>
          <p:cNvSpPr txBox="1">
            <a:spLocks/>
          </p:cNvSpPr>
          <p:nvPr/>
        </p:nvSpPr>
        <p:spPr>
          <a:xfrm>
            <a:off x="748282" y="3266573"/>
            <a:ext cx="2723797" cy="373800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Persönlichkeit</a:t>
            </a:r>
          </a:p>
        </p:txBody>
      </p:sp>
      <p:sp>
        <p:nvSpPr>
          <p:cNvPr id="83" name="Textplatzhalter 25">
            <a:extLst>
              <a:ext uri="{FF2B5EF4-FFF2-40B4-BE49-F238E27FC236}">
                <a16:creationId xmlns:a16="http://schemas.microsoft.com/office/drawing/2014/main" id="{7CFA4452-6F92-754A-B1C6-49B1F435B148}"/>
              </a:ext>
            </a:extLst>
          </p:cNvPr>
          <p:cNvSpPr txBox="1">
            <a:spLocks/>
          </p:cNvSpPr>
          <p:nvPr/>
        </p:nvSpPr>
        <p:spPr>
          <a:xfrm>
            <a:off x="756836" y="4944815"/>
            <a:ext cx="2786552" cy="13643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>
                <a:solidFill>
                  <a:prstClr val="black"/>
                </a:solidFill>
              </a:rPr>
              <a:t>introvertiert	extrovertiert</a:t>
            </a: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>
                <a:solidFill>
                  <a:prstClr val="black"/>
                </a:solidFill>
              </a:rPr>
              <a:t>analytisch	kreativ</a:t>
            </a: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>
                <a:solidFill>
                  <a:prstClr val="black"/>
                </a:solidFill>
              </a:rPr>
              <a:t>konservativ	liberal</a:t>
            </a: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>
                <a:solidFill>
                  <a:prstClr val="black"/>
                </a:solidFill>
              </a:rPr>
              <a:t>passiv	aktiv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447014B6-B055-714C-81FF-A0A38B30E7C4}"/>
              </a:ext>
            </a:extLst>
          </p:cNvPr>
          <p:cNvSpPr/>
          <p:nvPr/>
        </p:nvSpPr>
        <p:spPr>
          <a:xfrm>
            <a:off x="843072" y="5150145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Inhaltsplatzhalter 19">
            <a:extLst>
              <a:ext uri="{FF2B5EF4-FFF2-40B4-BE49-F238E27FC236}">
                <a16:creationId xmlns:a16="http://schemas.microsoft.com/office/drawing/2014/main" id="{5B5194E6-AE4D-A24F-904A-F8E4463CC63E}"/>
              </a:ext>
            </a:extLst>
          </p:cNvPr>
          <p:cNvSpPr txBox="1">
            <a:spLocks/>
          </p:cNvSpPr>
          <p:nvPr/>
        </p:nvSpPr>
        <p:spPr>
          <a:xfrm>
            <a:off x="3991705" y="3266572"/>
            <a:ext cx="2852229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Frustpunkte</a:t>
            </a:r>
          </a:p>
        </p:txBody>
      </p:sp>
      <p:cxnSp>
        <p:nvCxnSpPr>
          <p:cNvPr id="95" name="Gerade Verbindung 21">
            <a:extLst>
              <a:ext uri="{FF2B5EF4-FFF2-40B4-BE49-F238E27FC236}">
                <a16:creationId xmlns:a16="http://schemas.microsoft.com/office/drawing/2014/main" id="{DD6828B5-0E34-C54F-8A93-A98DEC74FB36}"/>
              </a:ext>
            </a:extLst>
          </p:cNvPr>
          <p:cNvCxnSpPr>
            <a:cxnSpLocks/>
          </p:cNvCxnSpPr>
          <p:nvPr/>
        </p:nvCxnSpPr>
        <p:spPr>
          <a:xfrm flipH="1">
            <a:off x="3990419" y="3641727"/>
            <a:ext cx="3780000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nhaltsplatzhalter 19">
            <a:extLst>
              <a:ext uri="{FF2B5EF4-FFF2-40B4-BE49-F238E27FC236}">
                <a16:creationId xmlns:a16="http://schemas.microsoft.com/office/drawing/2014/main" id="{F49DCFFB-A5C7-F04A-951F-B925191EB74C}"/>
              </a:ext>
            </a:extLst>
          </p:cNvPr>
          <p:cNvSpPr txBox="1">
            <a:spLocks/>
          </p:cNvSpPr>
          <p:nvPr/>
        </p:nvSpPr>
        <p:spPr>
          <a:xfrm>
            <a:off x="8156575" y="1853471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Nutzungsmotivation</a:t>
            </a:r>
          </a:p>
        </p:txBody>
      </p:sp>
      <p:cxnSp>
        <p:nvCxnSpPr>
          <p:cNvPr id="98" name="Gerade Verbindung 21">
            <a:extLst>
              <a:ext uri="{FF2B5EF4-FFF2-40B4-BE49-F238E27FC236}">
                <a16:creationId xmlns:a16="http://schemas.microsoft.com/office/drawing/2014/main" id="{EA0E23B8-FB5C-C144-B510-839678158EA5}"/>
              </a:ext>
            </a:extLst>
          </p:cNvPr>
          <p:cNvCxnSpPr>
            <a:cxnSpLocks/>
          </p:cNvCxnSpPr>
          <p:nvPr/>
        </p:nvCxnSpPr>
        <p:spPr>
          <a:xfrm flipH="1">
            <a:off x="8134296" y="2226403"/>
            <a:ext cx="321632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21">
            <a:extLst>
              <a:ext uri="{FF2B5EF4-FFF2-40B4-BE49-F238E27FC236}">
                <a16:creationId xmlns:a16="http://schemas.microsoft.com/office/drawing/2014/main" id="{F5C9911D-2D91-B34B-A455-399D48541AB1}"/>
              </a:ext>
            </a:extLst>
          </p:cNvPr>
          <p:cNvCxnSpPr>
            <a:cxnSpLocks/>
          </p:cNvCxnSpPr>
          <p:nvPr/>
        </p:nvCxnSpPr>
        <p:spPr>
          <a:xfrm flipH="1">
            <a:off x="8145349" y="5030768"/>
            <a:ext cx="3205276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Inhaltsplatzhalter 19">
            <a:extLst>
              <a:ext uri="{FF2B5EF4-FFF2-40B4-BE49-F238E27FC236}">
                <a16:creationId xmlns:a16="http://schemas.microsoft.com/office/drawing/2014/main" id="{3F516D91-8E0F-C242-962D-488B38768FD9}"/>
              </a:ext>
            </a:extLst>
          </p:cNvPr>
          <p:cNvSpPr txBox="1">
            <a:spLocks/>
          </p:cNvSpPr>
          <p:nvPr/>
        </p:nvSpPr>
        <p:spPr>
          <a:xfrm>
            <a:off x="3991705" y="4655348"/>
            <a:ext cx="2852229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Wünsche</a:t>
            </a:r>
          </a:p>
        </p:txBody>
      </p:sp>
      <p:cxnSp>
        <p:nvCxnSpPr>
          <p:cNvPr id="103" name="Gerade Verbindung 21">
            <a:extLst>
              <a:ext uri="{FF2B5EF4-FFF2-40B4-BE49-F238E27FC236}">
                <a16:creationId xmlns:a16="http://schemas.microsoft.com/office/drawing/2014/main" id="{9FD414F4-8C49-3141-9C6C-0C801FDEF88A}"/>
              </a:ext>
            </a:extLst>
          </p:cNvPr>
          <p:cNvCxnSpPr>
            <a:cxnSpLocks/>
          </p:cNvCxnSpPr>
          <p:nvPr/>
        </p:nvCxnSpPr>
        <p:spPr>
          <a:xfrm flipH="1">
            <a:off x="3973824" y="5035283"/>
            <a:ext cx="3780000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Inhaltsplatzhalter 19">
            <a:extLst>
              <a:ext uri="{FF2B5EF4-FFF2-40B4-BE49-F238E27FC236}">
                <a16:creationId xmlns:a16="http://schemas.microsoft.com/office/drawing/2014/main" id="{3C906A0C-4B81-3848-90F8-97E0B19C5E78}"/>
              </a:ext>
            </a:extLst>
          </p:cNvPr>
          <p:cNvSpPr txBox="1">
            <a:spLocks/>
          </p:cNvSpPr>
          <p:nvPr/>
        </p:nvSpPr>
        <p:spPr>
          <a:xfrm>
            <a:off x="8156575" y="3260268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Ziele</a:t>
            </a:r>
          </a:p>
        </p:txBody>
      </p:sp>
      <p:cxnSp>
        <p:nvCxnSpPr>
          <p:cNvPr id="106" name="Gerade Verbindung 21">
            <a:extLst>
              <a:ext uri="{FF2B5EF4-FFF2-40B4-BE49-F238E27FC236}">
                <a16:creationId xmlns:a16="http://schemas.microsoft.com/office/drawing/2014/main" id="{629D6E93-6D42-F949-8AA8-8806D22A3C13}"/>
              </a:ext>
            </a:extLst>
          </p:cNvPr>
          <p:cNvCxnSpPr>
            <a:cxnSpLocks/>
          </p:cNvCxnSpPr>
          <p:nvPr/>
        </p:nvCxnSpPr>
        <p:spPr>
          <a:xfrm flipH="1">
            <a:off x="8160789" y="3640372"/>
            <a:ext cx="319142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Inhaltsplatzhalter 19">
            <a:extLst>
              <a:ext uri="{FF2B5EF4-FFF2-40B4-BE49-F238E27FC236}">
                <a16:creationId xmlns:a16="http://schemas.microsoft.com/office/drawing/2014/main" id="{F658E4BF-ED4D-EF4D-BDFD-30BDA83864C6}"/>
              </a:ext>
            </a:extLst>
          </p:cNvPr>
          <p:cNvSpPr txBox="1">
            <a:spLocks/>
          </p:cNvSpPr>
          <p:nvPr/>
        </p:nvSpPr>
        <p:spPr>
          <a:xfrm>
            <a:off x="8140286" y="4637271"/>
            <a:ext cx="3294878" cy="36671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Biographie</a:t>
            </a:r>
          </a:p>
        </p:txBody>
      </p:sp>
      <p:sp>
        <p:nvSpPr>
          <p:cNvPr id="109" name="Textplatzhalter 25">
            <a:extLst>
              <a:ext uri="{FF2B5EF4-FFF2-40B4-BE49-F238E27FC236}">
                <a16:creationId xmlns:a16="http://schemas.microsoft.com/office/drawing/2014/main" id="{D582E82C-DFD6-E748-BF3F-6C5539667780}"/>
              </a:ext>
            </a:extLst>
          </p:cNvPr>
          <p:cNvSpPr txBox="1">
            <a:spLocks/>
          </p:cNvSpPr>
          <p:nvPr/>
        </p:nvSpPr>
        <p:spPr>
          <a:xfrm>
            <a:off x="3991705" y="1996903"/>
            <a:ext cx="3719911" cy="121615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accent1"/>
                </a:solidFill>
              </a:rPr>
              <a:t>„ </a:t>
            </a:r>
          </a:p>
          <a:p>
            <a:endParaRPr lang="de-DE" b="1" dirty="0">
              <a:solidFill>
                <a:schemeClr val="accent1"/>
              </a:solidFill>
            </a:endParaRPr>
          </a:p>
          <a:p>
            <a:pPr algn="r"/>
            <a:endParaRPr lang="de-DE" b="1" dirty="0">
              <a:solidFill>
                <a:schemeClr val="accent1"/>
              </a:solidFill>
            </a:endParaRPr>
          </a:p>
          <a:p>
            <a:pPr algn="r"/>
            <a:r>
              <a:rPr lang="de-DE" b="1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43616105-B466-1646-82B7-8794308F6683}"/>
              </a:ext>
            </a:extLst>
          </p:cNvPr>
          <p:cNvSpPr/>
          <p:nvPr/>
        </p:nvSpPr>
        <p:spPr>
          <a:xfrm>
            <a:off x="843072" y="5462088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FBB3DA1-2954-DD47-BC9A-5F7B5A811D81}"/>
              </a:ext>
            </a:extLst>
          </p:cNvPr>
          <p:cNvSpPr/>
          <p:nvPr/>
        </p:nvSpPr>
        <p:spPr>
          <a:xfrm>
            <a:off x="843072" y="5759799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436D9C1F-9FCF-C745-B120-E28BD1B78D7C}"/>
              </a:ext>
            </a:extLst>
          </p:cNvPr>
          <p:cNvSpPr/>
          <p:nvPr/>
        </p:nvSpPr>
        <p:spPr>
          <a:xfrm>
            <a:off x="843072" y="6085864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8" name="Gerade Verbindung 21">
            <a:extLst>
              <a:ext uri="{FF2B5EF4-FFF2-40B4-BE49-F238E27FC236}">
                <a16:creationId xmlns:a16="http://schemas.microsoft.com/office/drawing/2014/main" id="{84BEE5BB-5DB8-3942-B864-A052186526EA}"/>
              </a:ext>
            </a:extLst>
          </p:cNvPr>
          <p:cNvCxnSpPr>
            <a:cxnSpLocks/>
          </p:cNvCxnSpPr>
          <p:nvPr/>
        </p:nvCxnSpPr>
        <p:spPr>
          <a:xfrm flipH="1">
            <a:off x="841376" y="3641727"/>
            <a:ext cx="270201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19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B18FA96-C3C2-430C-ABFA-05EAFD98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</p:spPr>
        <p:txBody>
          <a:bodyPr/>
          <a:lstStyle/>
          <a:p>
            <a:r>
              <a:rPr lang="de-DE" dirty="0"/>
              <a:t>Vorname:</a:t>
            </a:r>
            <a:br>
              <a:rPr lang="de-DE" dirty="0"/>
            </a:br>
            <a:r>
              <a:rPr lang="de-DE" dirty="0"/>
              <a:t>Nachname: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CEB9893-A9DD-4B60-81A1-A5DEF6A52B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de-DE" dirty="0"/>
              <a:t>© msg systems ag | 2022 | </a:t>
            </a:r>
            <a:r>
              <a:rPr lang="de-DE" dirty="0">
                <a:hlinkClick r:id="rId3"/>
              </a:rPr>
              <a:t>https://designthinking-methods.de/2Definition/personas.html</a:t>
            </a:r>
            <a:r>
              <a:rPr lang="de-DE" dirty="0"/>
              <a:t> </a:t>
            </a:r>
          </a:p>
        </p:txBody>
      </p:sp>
      <p:sp>
        <p:nvSpPr>
          <p:cNvPr id="64" name="Bildplatzhalter 63">
            <a:extLst>
              <a:ext uri="{FF2B5EF4-FFF2-40B4-BE49-F238E27FC236}">
                <a16:creationId xmlns:a16="http://schemas.microsoft.com/office/drawing/2014/main" id="{5BF01BD4-7F76-5A4B-98AA-809B25EA606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3F2265F-110C-4A80-A45A-5244CF14DBD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41375" y="198438"/>
            <a:ext cx="7480300" cy="215900"/>
          </a:xfrm>
        </p:spPr>
        <p:txBody>
          <a:bodyPr/>
          <a:lstStyle/>
          <a:p>
            <a:r>
              <a:rPr lang="de-DE" dirty="0"/>
              <a:t>Benutzergruppe:</a:t>
            </a:r>
          </a:p>
        </p:txBody>
      </p:sp>
      <p:sp>
        <p:nvSpPr>
          <p:cNvPr id="65" name="Inhaltsplatzhalter 19">
            <a:extLst>
              <a:ext uri="{FF2B5EF4-FFF2-40B4-BE49-F238E27FC236}">
                <a16:creationId xmlns:a16="http://schemas.microsoft.com/office/drawing/2014/main" id="{7A689483-2263-9645-A04B-AA5C74CB753B}"/>
              </a:ext>
            </a:extLst>
          </p:cNvPr>
          <p:cNvSpPr txBox="1">
            <a:spLocks/>
          </p:cNvSpPr>
          <p:nvPr/>
        </p:nvSpPr>
        <p:spPr>
          <a:xfrm>
            <a:off x="828000" y="3518491"/>
            <a:ext cx="3259592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Daten</a:t>
            </a:r>
          </a:p>
        </p:txBody>
      </p:sp>
      <p:sp>
        <p:nvSpPr>
          <p:cNvPr id="66" name="Inhaltsplatzhalter 19">
            <a:extLst>
              <a:ext uri="{FF2B5EF4-FFF2-40B4-BE49-F238E27FC236}">
                <a16:creationId xmlns:a16="http://schemas.microsoft.com/office/drawing/2014/main" id="{1BD8E68D-2BD4-4B4D-9F7E-19D840237C03}"/>
              </a:ext>
            </a:extLst>
          </p:cNvPr>
          <p:cNvSpPr txBox="1">
            <a:spLocks/>
          </p:cNvSpPr>
          <p:nvPr/>
        </p:nvSpPr>
        <p:spPr>
          <a:xfrm>
            <a:off x="8161165" y="1846263"/>
            <a:ext cx="3259592" cy="366712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(IT-)Kenntnisse</a:t>
            </a:r>
          </a:p>
        </p:txBody>
      </p:sp>
      <p:sp>
        <p:nvSpPr>
          <p:cNvPr id="67" name="Textplatzhalter 24">
            <a:extLst>
              <a:ext uri="{FF2B5EF4-FFF2-40B4-BE49-F238E27FC236}">
                <a16:creationId xmlns:a16="http://schemas.microsoft.com/office/drawing/2014/main" id="{05163B3D-035A-E640-8D80-D260C5424DCC}"/>
              </a:ext>
            </a:extLst>
          </p:cNvPr>
          <p:cNvSpPr txBox="1">
            <a:spLocks/>
          </p:cNvSpPr>
          <p:nvPr/>
        </p:nvSpPr>
        <p:spPr>
          <a:xfrm>
            <a:off x="755885" y="4018226"/>
            <a:ext cx="2559413" cy="10459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240000" algn="r"/>
              </a:tabLst>
            </a:pPr>
            <a:r>
              <a:rPr lang="de-DE" sz="1200" dirty="0"/>
              <a:t>Alter:	</a:t>
            </a:r>
          </a:p>
          <a:p>
            <a:pPr>
              <a:tabLst>
                <a:tab pos="3240000" algn="r"/>
              </a:tabLst>
            </a:pPr>
            <a:r>
              <a:rPr lang="de-DE" sz="1200" dirty="0"/>
              <a:t>Job:	</a:t>
            </a:r>
          </a:p>
          <a:p>
            <a:pPr>
              <a:tabLst>
                <a:tab pos="3240000" algn="r"/>
              </a:tabLst>
            </a:pPr>
            <a:r>
              <a:rPr lang="de-DE" sz="1200" dirty="0"/>
              <a:t>Familie:	</a:t>
            </a:r>
          </a:p>
          <a:p>
            <a:pPr>
              <a:tabLst>
                <a:tab pos="3240000" algn="r"/>
              </a:tabLst>
            </a:pPr>
            <a:r>
              <a:rPr lang="de-DE" sz="1200" dirty="0"/>
              <a:t>	</a:t>
            </a:r>
          </a:p>
          <a:p>
            <a:pPr>
              <a:tabLst>
                <a:tab pos="3240000" algn="r"/>
              </a:tabLst>
            </a:pPr>
            <a:r>
              <a:rPr lang="de-DE" sz="1200" dirty="0"/>
              <a:t>Wohnort:	</a:t>
            </a:r>
          </a:p>
        </p:txBody>
      </p:sp>
      <p:cxnSp>
        <p:nvCxnSpPr>
          <p:cNvPr id="68" name="Gerade Verbindung 18">
            <a:extLst>
              <a:ext uri="{FF2B5EF4-FFF2-40B4-BE49-F238E27FC236}">
                <a16:creationId xmlns:a16="http://schemas.microsoft.com/office/drawing/2014/main" id="{26EA4D29-E13A-F24C-B69A-98EFB25D4BF3}"/>
              </a:ext>
            </a:extLst>
          </p:cNvPr>
          <p:cNvCxnSpPr>
            <a:cxnSpLocks/>
          </p:cNvCxnSpPr>
          <p:nvPr/>
        </p:nvCxnSpPr>
        <p:spPr>
          <a:xfrm flipH="1">
            <a:off x="828000" y="3905523"/>
            <a:ext cx="239720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31DB0CD3-BAE1-354D-90D0-03817ECCF81C}"/>
              </a:ext>
            </a:extLst>
          </p:cNvPr>
          <p:cNvCxnSpPr/>
          <p:nvPr/>
        </p:nvCxnSpPr>
        <p:spPr>
          <a:xfrm>
            <a:off x="3466422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>
            <a:extLst>
              <a:ext uri="{FF2B5EF4-FFF2-40B4-BE49-F238E27FC236}">
                <a16:creationId xmlns:a16="http://schemas.microsoft.com/office/drawing/2014/main" id="{7C209D9C-9446-8D4A-B2AA-144C4DD83BB5}"/>
              </a:ext>
            </a:extLst>
          </p:cNvPr>
          <p:cNvCxnSpPr/>
          <p:nvPr/>
        </p:nvCxnSpPr>
        <p:spPr>
          <a:xfrm>
            <a:off x="7982359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32">
            <a:extLst>
              <a:ext uri="{FF2B5EF4-FFF2-40B4-BE49-F238E27FC236}">
                <a16:creationId xmlns:a16="http://schemas.microsoft.com/office/drawing/2014/main" id="{01F08E3C-AD8D-EF4E-8F0F-1B7AF0EAC921}"/>
              </a:ext>
            </a:extLst>
          </p:cNvPr>
          <p:cNvCxnSpPr>
            <a:cxnSpLocks/>
          </p:cNvCxnSpPr>
          <p:nvPr/>
        </p:nvCxnSpPr>
        <p:spPr>
          <a:xfrm flipH="1">
            <a:off x="8133478" y="2226198"/>
            <a:ext cx="326969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D5041DA-734E-9D45-9073-1034152F0F86}"/>
              </a:ext>
            </a:extLst>
          </p:cNvPr>
          <p:cNvGrpSpPr/>
          <p:nvPr/>
        </p:nvGrpSpPr>
        <p:grpSpPr>
          <a:xfrm>
            <a:off x="8175341" y="2345296"/>
            <a:ext cx="3259592" cy="1604912"/>
            <a:chOff x="8091032" y="2345296"/>
            <a:chExt cx="3259592" cy="1604912"/>
          </a:xfrm>
        </p:grpSpPr>
        <p:sp>
          <p:nvSpPr>
            <p:cNvPr id="73" name="Textplatzhalter 25">
              <a:extLst>
                <a:ext uri="{FF2B5EF4-FFF2-40B4-BE49-F238E27FC236}">
                  <a16:creationId xmlns:a16="http://schemas.microsoft.com/office/drawing/2014/main" id="{9E3D5E49-93F9-F446-96AB-5BD470FDD35B}"/>
                </a:ext>
              </a:extLst>
            </p:cNvPr>
            <p:cNvSpPr txBox="1">
              <a:spLocks/>
            </p:cNvSpPr>
            <p:nvPr/>
          </p:nvSpPr>
          <p:spPr>
            <a:xfrm>
              <a:off x="8091032" y="2345296"/>
              <a:ext cx="3259592" cy="1604912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C1DCE31D-A779-F749-877A-68F5ABFB409E}"/>
                </a:ext>
              </a:extLst>
            </p:cNvPr>
            <p:cNvSpPr/>
            <p:nvPr/>
          </p:nvSpPr>
          <p:spPr>
            <a:xfrm>
              <a:off x="8192910" y="2608697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3C130482-0570-E54B-B0EF-4038EF61489A}"/>
                </a:ext>
              </a:extLst>
            </p:cNvPr>
            <p:cNvSpPr/>
            <p:nvPr/>
          </p:nvSpPr>
          <p:spPr>
            <a:xfrm>
              <a:off x="8192910" y="2978091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9858C9A4-7FD6-A34A-B867-A6FA90A5C127}"/>
                </a:ext>
              </a:extLst>
            </p:cNvPr>
            <p:cNvSpPr/>
            <p:nvPr/>
          </p:nvSpPr>
          <p:spPr>
            <a:xfrm>
              <a:off x="8186854" y="3335373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3A17CE8A-FE99-CC41-94A1-97DDA3C3270E}"/>
                </a:ext>
              </a:extLst>
            </p:cNvPr>
            <p:cNvSpPr/>
            <p:nvPr/>
          </p:nvSpPr>
          <p:spPr>
            <a:xfrm>
              <a:off x="8186854" y="3704767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</p:grpSp>
      <p:sp>
        <p:nvSpPr>
          <p:cNvPr id="82" name="Inhaltsplatzhalter 19">
            <a:extLst>
              <a:ext uri="{FF2B5EF4-FFF2-40B4-BE49-F238E27FC236}">
                <a16:creationId xmlns:a16="http://schemas.microsoft.com/office/drawing/2014/main" id="{D96FD6A2-A9DC-D846-82E2-A801A5EF1FB1}"/>
              </a:ext>
            </a:extLst>
          </p:cNvPr>
          <p:cNvSpPr txBox="1">
            <a:spLocks/>
          </p:cNvSpPr>
          <p:nvPr/>
        </p:nvSpPr>
        <p:spPr>
          <a:xfrm>
            <a:off x="8176523" y="4196380"/>
            <a:ext cx="3259592" cy="366712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Persönlichkeit</a:t>
            </a:r>
          </a:p>
        </p:txBody>
      </p:sp>
      <p:sp>
        <p:nvSpPr>
          <p:cNvPr id="83" name="Textplatzhalter 25">
            <a:extLst>
              <a:ext uri="{FF2B5EF4-FFF2-40B4-BE49-F238E27FC236}">
                <a16:creationId xmlns:a16="http://schemas.microsoft.com/office/drawing/2014/main" id="{7CFA4452-6F92-754A-B1C6-49B1F435B148}"/>
              </a:ext>
            </a:extLst>
          </p:cNvPr>
          <p:cNvSpPr txBox="1">
            <a:spLocks/>
          </p:cNvSpPr>
          <p:nvPr/>
        </p:nvSpPr>
        <p:spPr>
          <a:xfrm>
            <a:off x="8185076" y="4703813"/>
            <a:ext cx="3259592" cy="16049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tabLst>
                <a:tab pos="3240000" algn="r"/>
              </a:tabLst>
              <a:defRPr/>
            </a:pPr>
            <a:r>
              <a:rPr lang="de-DE">
                <a:solidFill>
                  <a:prstClr val="black"/>
                </a:solidFill>
              </a:rPr>
              <a:t>introvertiert	extrovertiert</a:t>
            </a:r>
          </a:p>
          <a:p>
            <a:pPr lvl="0">
              <a:buClrTx/>
              <a:tabLst>
                <a:tab pos="3240000" algn="r"/>
              </a:tabLst>
              <a:defRPr/>
            </a:pPr>
            <a:endParaRPr lang="de-DE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r>
              <a:rPr lang="de-DE">
                <a:solidFill>
                  <a:prstClr val="black"/>
                </a:solidFill>
              </a:rPr>
              <a:t>analytisch	kreativ</a:t>
            </a:r>
          </a:p>
          <a:p>
            <a:pPr lvl="0">
              <a:buClrTx/>
              <a:tabLst>
                <a:tab pos="3240000" algn="r"/>
              </a:tabLst>
              <a:defRPr/>
            </a:pPr>
            <a:endParaRPr lang="de-DE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r>
              <a:rPr lang="de-DE">
                <a:solidFill>
                  <a:prstClr val="black"/>
                </a:solidFill>
              </a:rPr>
              <a:t>konservativ	liberal</a:t>
            </a:r>
          </a:p>
          <a:p>
            <a:pPr lvl="0">
              <a:buClrTx/>
              <a:tabLst>
                <a:tab pos="3240000" algn="r"/>
              </a:tabLst>
              <a:defRPr/>
            </a:pPr>
            <a:endParaRPr lang="de-DE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r>
              <a:rPr lang="de-DE">
                <a:solidFill>
                  <a:prstClr val="black"/>
                </a:solidFill>
              </a:rPr>
              <a:t>passiv	aktiv</a:t>
            </a:r>
          </a:p>
        </p:txBody>
      </p:sp>
      <p:cxnSp>
        <p:nvCxnSpPr>
          <p:cNvPr id="84" name="Gerade Verbindung 32">
            <a:extLst>
              <a:ext uri="{FF2B5EF4-FFF2-40B4-BE49-F238E27FC236}">
                <a16:creationId xmlns:a16="http://schemas.microsoft.com/office/drawing/2014/main" id="{01DAD42D-1C38-3043-BD5E-83607E8E8CA6}"/>
              </a:ext>
            </a:extLst>
          </p:cNvPr>
          <p:cNvCxnSpPr>
            <a:cxnSpLocks/>
          </p:cNvCxnSpPr>
          <p:nvPr/>
        </p:nvCxnSpPr>
        <p:spPr>
          <a:xfrm flipH="1">
            <a:off x="8148836" y="4576315"/>
            <a:ext cx="326969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447014B6-B055-714C-81FF-A0A38B30E7C4}"/>
              </a:ext>
            </a:extLst>
          </p:cNvPr>
          <p:cNvSpPr/>
          <p:nvPr/>
        </p:nvSpPr>
        <p:spPr>
          <a:xfrm>
            <a:off x="8278401" y="4958814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ECC7912E-E9F9-6346-807E-2BCEC2E581CA}"/>
              </a:ext>
            </a:extLst>
          </p:cNvPr>
          <p:cNvSpPr/>
          <p:nvPr/>
        </p:nvSpPr>
        <p:spPr>
          <a:xfrm>
            <a:off x="8278401" y="5328208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394D8FCA-40D1-734D-B29F-C60AD46D3CBE}"/>
              </a:ext>
            </a:extLst>
          </p:cNvPr>
          <p:cNvSpPr/>
          <p:nvPr/>
        </p:nvSpPr>
        <p:spPr>
          <a:xfrm>
            <a:off x="8272345" y="5685490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3F715C13-3091-4644-AB39-BACCA0E64FC0}"/>
              </a:ext>
            </a:extLst>
          </p:cNvPr>
          <p:cNvSpPr/>
          <p:nvPr/>
        </p:nvSpPr>
        <p:spPr>
          <a:xfrm>
            <a:off x="8272345" y="6054884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Inhaltsplatzhalter 19">
            <a:extLst>
              <a:ext uri="{FF2B5EF4-FFF2-40B4-BE49-F238E27FC236}">
                <a16:creationId xmlns:a16="http://schemas.microsoft.com/office/drawing/2014/main" id="{5B5194E6-AE4D-A24F-904A-F8E4463CC63E}"/>
              </a:ext>
            </a:extLst>
          </p:cNvPr>
          <p:cNvSpPr txBox="1">
            <a:spLocks/>
          </p:cNvSpPr>
          <p:nvPr/>
        </p:nvSpPr>
        <p:spPr>
          <a:xfrm>
            <a:off x="3650290" y="1857835"/>
            <a:ext cx="1948111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Frustpunkte</a:t>
            </a:r>
          </a:p>
        </p:txBody>
      </p:sp>
      <p:cxnSp>
        <p:nvCxnSpPr>
          <p:cNvPr id="95" name="Gerade Verbindung 21">
            <a:extLst>
              <a:ext uri="{FF2B5EF4-FFF2-40B4-BE49-F238E27FC236}">
                <a16:creationId xmlns:a16="http://schemas.microsoft.com/office/drawing/2014/main" id="{DD6828B5-0E34-C54F-8A93-A98DEC74FB36}"/>
              </a:ext>
            </a:extLst>
          </p:cNvPr>
          <p:cNvCxnSpPr>
            <a:cxnSpLocks/>
          </p:cNvCxnSpPr>
          <p:nvPr/>
        </p:nvCxnSpPr>
        <p:spPr>
          <a:xfrm flipH="1">
            <a:off x="3614992" y="2225902"/>
            <a:ext cx="198340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nhaltsplatzhalter 19">
            <a:extLst>
              <a:ext uri="{FF2B5EF4-FFF2-40B4-BE49-F238E27FC236}">
                <a16:creationId xmlns:a16="http://schemas.microsoft.com/office/drawing/2014/main" id="{F49DCFFB-A5C7-F04A-951F-B925191EB74C}"/>
              </a:ext>
            </a:extLst>
          </p:cNvPr>
          <p:cNvSpPr txBox="1">
            <a:spLocks/>
          </p:cNvSpPr>
          <p:nvPr/>
        </p:nvSpPr>
        <p:spPr>
          <a:xfrm>
            <a:off x="5894165" y="1853471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Nutzungsmotivation</a:t>
            </a:r>
          </a:p>
        </p:txBody>
      </p:sp>
      <p:cxnSp>
        <p:nvCxnSpPr>
          <p:cNvPr id="98" name="Gerade Verbindung 21">
            <a:extLst>
              <a:ext uri="{FF2B5EF4-FFF2-40B4-BE49-F238E27FC236}">
                <a16:creationId xmlns:a16="http://schemas.microsoft.com/office/drawing/2014/main" id="{EA0E23B8-FB5C-C144-B510-839678158EA5}"/>
              </a:ext>
            </a:extLst>
          </p:cNvPr>
          <p:cNvCxnSpPr>
            <a:cxnSpLocks/>
          </p:cNvCxnSpPr>
          <p:nvPr/>
        </p:nvCxnSpPr>
        <p:spPr>
          <a:xfrm flipH="1">
            <a:off x="5871885" y="2226403"/>
            <a:ext cx="1959347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21">
            <a:extLst>
              <a:ext uri="{FF2B5EF4-FFF2-40B4-BE49-F238E27FC236}">
                <a16:creationId xmlns:a16="http://schemas.microsoft.com/office/drawing/2014/main" id="{F5C9911D-2D91-B34B-A455-399D48541AB1}"/>
              </a:ext>
            </a:extLst>
          </p:cNvPr>
          <p:cNvCxnSpPr>
            <a:cxnSpLocks/>
          </p:cNvCxnSpPr>
          <p:nvPr/>
        </p:nvCxnSpPr>
        <p:spPr>
          <a:xfrm flipH="1">
            <a:off x="3650290" y="5281553"/>
            <a:ext cx="415326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2CCEF20B-E749-1C43-84F7-1E1243134B68}"/>
              </a:ext>
            </a:extLst>
          </p:cNvPr>
          <p:cNvCxnSpPr>
            <a:cxnSpLocks/>
          </p:cNvCxnSpPr>
          <p:nvPr/>
        </p:nvCxnSpPr>
        <p:spPr>
          <a:xfrm>
            <a:off x="5749522" y="1940589"/>
            <a:ext cx="0" cy="2947467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Inhaltsplatzhalter 19">
            <a:extLst>
              <a:ext uri="{FF2B5EF4-FFF2-40B4-BE49-F238E27FC236}">
                <a16:creationId xmlns:a16="http://schemas.microsoft.com/office/drawing/2014/main" id="{3F516D91-8E0F-C242-962D-488B38768FD9}"/>
              </a:ext>
            </a:extLst>
          </p:cNvPr>
          <p:cNvSpPr txBox="1">
            <a:spLocks/>
          </p:cNvSpPr>
          <p:nvPr/>
        </p:nvSpPr>
        <p:spPr>
          <a:xfrm>
            <a:off x="3650290" y="3303315"/>
            <a:ext cx="1948111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Wünsche</a:t>
            </a:r>
          </a:p>
        </p:txBody>
      </p:sp>
      <p:cxnSp>
        <p:nvCxnSpPr>
          <p:cNvPr id="103" name="Gerade Verbindung 21">
            <a:extLst>
              <a:ext uri="{FF2B5EF4-FFF2-40B4-BE49-F238E27FC236}">
                <a16:creationId xmlns:a16="http://schemas.microsoft.com/office/drawing/2014/main" id="{9FD414F4-8C49-3141-9C6C-0C801FDEF88A}"/>
              </a:ext>
            </a:extLst>
          </p:cNvPr>
          <p:cNvCxnSpPr>
            <a:cxnSpLocks/>
          </p:cNvCxnSpPr>
          <p:nvPr/>
        </p:nvCxnSpPr>
        <p:spPr>
          <a:xfrm flipH="1">
            <a:off x="3601522" y="3683250"/>
            <a:ext cx="199687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Inhaltsplatzhalter 19">
            <a:extLst>
              <a:ext uri="{FF2B5EF4-FFF2-40B4-BE49-F238E27FC236}">
                <a16:creationId xmlns:a16="http://schemas.microsoft.com/office/drawing/2014/main" id="{3C906A0C-4B81-3848-90F8-97E0B19C5E78}"/>
              </a:ext>
            </a:extLst>
          </p:cNvPr>
          <p:cNvSpPr txBox="1">
            <a:spLocks/>
          </p:cNvSpPr>
          <p:nvPr/>
        </p:nvSpPr>
        <p:spPr>
          <a:xfrm>
            <a:off x="5894165" y="3303146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Ziele</a:t>
            </a:r>
          </a:p>
        </p:txBody>
      </p:sp>
      <p:cxnSp>
        <p:nvCxnSpPr>
          <p:cNvPr id="106" name="Gerade Verbindung 21">
            <a:extLst>
              <a:ext uri="{FF2B5EF4-FFF2-40B4-BE49-F238E27FC236}">
                <a16:creationId xmlns:a16="http://schemas.microsoft.com/office/drawing/2014/main" id="{629D6E93-6D42-F949-8AA8-8806D22A3C13}"/>
              </a:ext>
            </a:extLst>
          </p:cNvPr>
          <p:cNvCxnSpPr>
            <a:cxnSpLocks/>
          </p:cNvCxnSpPr>
          <p:nvPr/>
        </p:nvCxnSpPr>
        <p:spPr>
          <a:xfrm flipH="1">
            <a:off x="5898377" y="3683250"/>
            <a:ext cx="1932855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Inhaltsplatzhalter 19">
            <a:extLst>
              <a:ext uri="{FF2B5EF4-FFF2-40B4-BE49-F238E27FC236}">
                <a16:creationId xmlns:a16="http://schemas.microsoft.com/office/drawing/2014/main" id="{F658E4BF-ED4D-EF4D-BDFD-30BDA83864C6}"/>
              </a:ext>
            </a:extLst>
          </p:cNvPr>
          <p:cNvSpPr txBox="1">
            <a:spLocks/>
          </p:cNvSpPr>
          <p:nvPr/>
        </p:nvSpPr>
        <p:spPr>
          <a:xfrm>
            <a:off x="3645227" y="4888056"/>
            <a:ext cx="3294878" cy="36671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Biographie</a:t>
            </a:r>
          </a:p>
        </p:txBody>
      </p:sp>
      <p:sp>
        <p:nvSpPr>
          <p:cNvPr id="109" name="Textplatzhalter 25">
            <a:extLst>
              <a:ext uri="{FF2B5EF4-FFF2-40B4-BE49-F238E27FC236}">
                <a16:creationId xmlns:a16="http://schemas.microsoft.com/office/drawing/2014/main" id="{D582E82C-DFD6-E748-BF3F-6C5539667780}"/>
              </a:ext>
            </a:extLst>
          </p:cNvPr>
          <p:cNvSpPr txBox="1">
            <a:spLocks/>
          </p:cNvSpPr>
          <p:nvPr/>
        </p:nvSpPr>
        <p:spPr>
          <a:xfrm>
            <a:off x="841375" y="5310016"/>
            <a:ext cx="2383830" cy="8558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accent1"/>
                </a:solidFill>
              </a:rPr>
              <a:t>„ </a:t>
            </a:r>
          </a:p>
          <a:p>
            <a:endParaRPr lang="de-DE" dirty="0">
              <a:solidFill>
                <a:schemeClr val="accent1"/>
              </a:solidFill>
            </a:endParaRPr>
          </a:p>
          <a:p>
            <a:endParaRPr lang="de-DE" dirty="0">
              <a:solidFill>
                <a:schemeClr val="accent1"/>
              </a:solidFill>
            </a:endParaRPr>
          </a:p>
          <a:p>
            <a:pPr algn="r"/>
            <a:r>
              <a:rPr lang="de-DE" dirty="0">
                <a:solidFill>
                  <a:schemeClr val="accent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2724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8873-2FDD-C6B9-55D2-99A7793D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AC19BBB-F177-9FA3-99FA-5E861E4B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 Name:</a:t>
            </a:r>
            <a:br>
              <a:rPr lang="de-DE" dirty="0"/>
            </a:br>
            <a:r>
              <a:rPr lang="de-DE" dirty="0"/>
              <a:t>Last Name: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91B4783-A8D6-F80D-5A80-53ACD1A35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msg systems ag | 2026 | User Experience Templates – Persona </a:t>
            </a:r>
            <a:r>
              <a:rPr lang="de-DE" dirty="0">
                <a:hlinkClick r:id="rId3"/>
              </a:rPr>
              <a:t>https://user-experience-methods.com/en/02_define/persona.html</a:t>
            </a:r>
            <a:r>
              <a:rPr lang="de-DE" dirty="0"/>
              <a:t> 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FCC25CD-7265-C70A-AE87-BCA31EFE88F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41374" y="1867792"/>
            <a:ext cx="1368000" cy="13680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A1209AE-A8C9-46FA-5968-CFD2E40253B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User Group:</a:t>
            </a:r>
          </a:p>
        </p:txBody>
      </p:sp>
      <p:sp>
        <p:nvSpPr>
          <p:cNvPr id="67" name="Textplatzhalter 24">
            <a:extLst>
              <a:ext uri="{FF2B5EF4-FFF2-40B4-BE49-F238E27FC236}">
                <a16:creationId xmlns:a16="http://schemas.microsoft.com/office/drawing/2014/main" id="{2A6A8EDF-9CF0-B860-7449-0E4FA619610E}"/>
              </a:ext>
            </a:extLst>
          </p:cNvPr>
          <p:cNvSpPr txBox="1">
            <a:spLocks/>
          </p:cNvSpPr>
          <p:nvPr/>
        </p:nvSpPr>
        <p:spPr>
          <a:xfrm>
            <a:off x="755885" y="3805573"/>
            <a:ext cx="2823728" cy="109701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Age: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Job: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Family: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Place </a:t>
            </a:r>
            <a:r>
              <a:rPr lang="de-DE" sz="1200" dirty="0" err="1"/>
              <a:t>of</a:t>
            </a:r>
            <a:r>
              <a:rPr lang="de-DE" sz="1200" dirty="0"/>
              <a:t> Residence:	</a:t>
            </a:r>
          </a:p>
        </p:txBody>
      </p: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06EB9067-8C2C-B1CA-2F80-D7F0AC18B975}"/>
              </a:ext>
            </a:extLst>
          </p:cNvPr>
          <p:cNvCxnSpPr/>
          <p:nvPr/>
        </p:nvCxnSpPr>
        <p:spPr>
          <a:xfrm>
            <a:off x="3771593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>
            <a:extLst>
              <a:ext uri="{FF2B5EF4-FFF2-40B4-BE49-F238E27FC236}">
                <a16:creationId xmlns:a16="http://schemas.microsoft.com/office/drawing/2014/main" id="{585F627F-7CA2-8627-0D62-6676D84FF74E}"/>
              </a:ext>
            </a:extLst>
          </p:cNvPr>
          <p:cNvCxnSpPr/>
          <p:nvPr/>
        </p:nvCxnSpPr>
        <p:spPr>
          <a:xfrm>
            <a:off x="7954223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Inhaltsplatzhalter 19">
            <a:extLst>
              <a:ext uri="{FF2B5EF4-FFF2-40B4-BE49-F238E27FC236}">
                <a16:creationId xmlns:a16="http://schemas.microsoft.com/office/drawing/2014/main" id="{86B75ED4-36AD-57AE-8A4C-F2BDCDFA12F4}"/>
              </a:ext>
            </a:extLst>
          </p:cNvPr>
          <p:cNvSpPr txBox="1">
            <a:spLocks/>
          </p:cNvSpPr>
          <p:nvPr/>
        </p:nvSpPr>
        <p:spPr>
          <a:xfrm>
            <a:off x="748282" y="3266573"/>
            <a:ext cx="2723797" cy="373800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Personality</a:t>
            </a:r>
          </a:p>
        </p:txBody>
      </p:sp>
      <p:sp>
        <p:nvSpPr>
          <p:cNvPr id="83" name="Textplatzhalter 25">
            <a:extLst>
              <a:ext uri="{FF2B5EF4-FFF2-40B4-BE49-F238E27FC236}">
                <a16:creationId xmlns:a16="http://schemas.microsoft.com/office/drawing/2014/main" id="{58DE692C-33D4-4476-13DE-EE824573003D}"/>
              </a:ext>
            </a:extLst>
          </p:cNvPr>
          <p:cNvSpPr txBox="1">
            <a:spLocks/>
          </p:cNvSpPr>
          <p:nvPr/>
        </p:nvSpPr>
        <p:spPr>
          <a:xfrm>
            <a:off x="756836" y="4944815"/>
            <a:ext cx="2786552" cy="13643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 err="1">
                <a:solidFill>
                  <a:prstClr val="black"/>
                </a:solidFill>
              </a:rPr>
              <a:t>introverted</a:t>
            </a:r>
            <a:r>
              <a:rPr lang="de-DE" dirty="0">
                <a:solidFill>
                  <a:prstClr val="black"/>
                </a:solidFill>
              </a:rPr>
              <a:t>	</a:t>
            </a:r>
            <a:r>
              <a:rPr lang="de-DE" dirty="0" err="1">
                <a:solidFill>
                  <a:prstClr val="black"/>
                </a:solidFill>
              </a:rPr>
              <a:t>extroverted</a:t>
            </a: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 err="1">
                <a:solidFill>
                  <a:prstClr val="black"/>
                </a:solidFill>
              </a:rPr>
              <a:t>analytical</a:t>
            </a:r>
            <a:r>
              <a:rPr lang="de-DE" dirty="0">
                <a:solidFill>
                  <a:prstClr val="black"/>
                </a:solidFill>
              </a:rPr>
              <a:t>	</a:t>
            </a:r>
            <a:r>
              <a:rPr lang="de-DE" dirty="0" err="1">
                <a:solidFill>
                  <a:prstClr val="black"/>
                </a:solidFill>
              </a:rPr>
              <a:t>creative</a:t>
            </a: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 err="1">
                <a:solidFill>
                  <a:prstClr val="black"/>
                </a:solidFill>
              </a:rPr>
              <a:t>conservative</a:t>
            </a:r>
            <a:r>
              <a:rPr lang="de-DE" dirty="0">
                <a:solidFill>
                  <a:prstClr val="black"/>
                </a:solidFill>
              </a:rPr>
              <a:t>	liberal</a:t>
            </a: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lnSpc>
                <a:spcPts val="1200"/>
              </a:lnSpc>
              <a:buClrTx/>
              <a:tabLst>
                <a:tab pos="3240000" algn="r"/>
              </a:tabLst>
              <a:defRPr/>
            </a:pPr>
            <a:r>
              <a:rPr lang="de-DE" dirty="0">
                <a:solidFill>
                  <a:prstClr val="black"/>
                </a:solidFill>
              </a:rPr>
              <a:t>passive	</a:t>
            </a:r>
            <a:r>
              <a:rPr lang="de-DE" dirty="0" err="1">
                <a:solidFill>
                  <a:prstClr val="black"/>
                </a:solidFill>
              </a:rPr>
              <a:t>active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6654301C-E60A-7DA5-39BD-78D075077774}"/>
              </a:ext>
            </a:extLst>
          </p:cNvPr>
          <p:cNvSpPr/>
          <p:nvPr/>
        </p:nvSpPr>
        <p:spPr>
          <a:xfrm>
            <a:off x="843072" y="5150145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Inhaltsplatzhalter 19">
            <a:extLst>
              <a:ext uri="{FF2B5EF4-FFF2-40B4-BE49-F238E27FC236}">
                <a16:creationId xmlns:a16="http://schemas.microsoft.com/office/drawing/2014/main" id="{42C15A27-9A4A-FEE9-6A97-7858FD430546}"/>
              </a:ext>
            </a:extLst>
          </p:cNvPr>
          <p:cNvSpPr txBox="1">
            <a:spLocks/>
          </p:cNvSpPr>
          <p:nvPr/>
        </p:nvSpPr>
        <p:spPr>
          <a:xfrm>
            <a:off x="3991705" y="3266572"/>
            <a:ext cx="2852229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Pain Points</a:t>
            </a:r>
          </a:p>
        </p:txBody>
      </p:sp>
      <p:cxnSp>
        <p:nvCxnSpPr>
          <p:cNvPr id="95" name="Gerade Verbindung 21">
            <a:extLst>
              <a:ext uri="{FF2B5EF4-FFF2-40B4-BE49-F238E27FC236}">
                <a16:creationId xmlns:a16="http://schemas.microsoft.com/office/drawing/2014/main" id="{27E48AE7-CAE2-39A3-E49E-C26E24E14270}"/>
              </a:ext>
            </a:extLst>
          </p:cNvPr>
          <p:cNvCxnSpPr>
            <a:cxnSpLocks/>
          </p:cNvCxnSpPr>
          <p:nvPr/>
        </p:nvCxnSpPr>
        <p:spPr>
          <a:xfrm flipH="1">
            <a:off x="3990419" y="3641727"/>
            <a:ext cx="3780000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nhaltsplatzhalter 19">
            <a:extLst>
              <a:ext uri="{FF2B5EF4-FFF2-40B4-BE49-F238E27FC236}">
                <a16:creationId xmlns:a16="http://schemas.microsoft.com/office/drawing/2014/main" id="{34BD2880-41DD-32E9-4FC7-A66001C24932}"/>
              </a:ext>
            </a:extLst>
          </p:cNvPr>
          <p:cNvSpPr txBox="1">
            <a:spLocks/>
          </p:cNvSpPr>
          <p:nvPr/>
        </p:nvSpPr>
        <p:spPr>
          <a:xfrm>
            <a:off x="8156575" y="1853471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Usage</a:t>
            </a:r>
            <a:r>
              <a:rPr lang="de-DE" dirty="0"/>
              <a:t> Motivation</a:t>
            </a:r>
          </a:p>
        </p:txBody>
      </p:sp>
      <p:cxnSp>
        <p:nvCxnSpPr>
          <p:cNvPr id="98" name="Gerade Verbindung 21">
            <a:extLst>
              <a:ext uri="{FF2B5EF4-FFF2-40B4-BE49-F238E27FC236}">
                <a16:creationId xmlns:a16="http://schemas.microsoft.com/office/drawing/2014/main" id="{ACF233BE-04E8-944A-61E6-9D420DD958B8}"/>
              </a:ext>
            </a:extLst>
          </p:cNvPr>
          <p:cNvCxnSpPr>
            <a:cxnSpLocks/>
          </p:cNvCxnSpPr>
          <p:nvPr/>
        </p:nvCxnSpPr>
        <p:spPr>
          <a:xfrm flipH="1">
            <a:off x="8134296" y="2226403"/>
            <a:ext cx="321632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21">
            <a:extLst>
              <a:ext uri="{FF2B5EF4-FFF2-40B4-BE49-F238E27FC236}">
                <a16:creationId xmlns:a16="http://schemas.microsoft.com/office/drawing/2014/main" id="{BEE2C6F8-55FF-8E9E-502D-3AA7B366E145}"/>
              </a:ext>
            </a:extLst>
          </p:cNvPr>
          <p:cNvCxnSpPr>
            <a:cxnSpLocks/>
          </p:cNvCxnSpPr>
          <p:nvPr/>
        </p:nvCxnSpPr>
        <p:spPr>
          <a:xfrm flipH="1">
            <a:off x="8145349" y="5030768"/>
            <a:ext cx="3205276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Inhaltsplatzhalter 19">
            <a:extLst>
              <a:ext uri="{FF2B5EF4-FFF2-40B4-BE49-F238E27FC236}">
                <a16:creationId xmlns:a16="http://schemas.microsoft.com/office/drawing/2014/main" id="{DE38659F-18BC-64B1-162F-004DD8008BC4}"/>
              </a:ext>
            </a:extLst>
          </p:cNvPr>
          <p:cNvSpPr txBox="1">
            <a:spLocks/>
          </p:cNvSpPr>
          <p:nvPr/>
        </p:nvSpPr>
        <p:spPr>
          <a:xfrm>
            <a:off x="3991705" y="4655348"/>
            <a:ext cx="2852229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Wishes</a:t>
            </a:r>
            <a:endParaRPr lang="de-DE" dirty="0"/>
          </a:p>
        </p:txBody>
      </p:sp>
      <p:cxnSp>
        <p:nvCxnSpPr>
          <p:cNvPr id="103" name="Gerade Verbindung 21">
            <a:extLst>
              <a:ext uri="{FF2B5EF4-FFF2-40B4-BE49-F238E27FC236}">
                <a16:creationId xmlns:a16="http://schemas.microsoft.com/office/drawing/2014/main" id="{EC7A2318-3DB9-172A-88C7-04E30F9DDCE6}"/>
              </a:ext>
            </a:extLst>
          </p:cNvPr>
          <p:cNvCxnSpPr>
            <a:cxnSpLocks/>
          </p:cNvCxnSpPr>
          <p:nvPr/>
        </p:nvCxnSpPr>
        <p:spPr>
          <a:xfrm flipH="1">
            <a:off x="3973824" y="5035283"/>
            <a:ext cx="3780000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Inhaltsplatzhalter 19">
            <a:extLst>
              <a:ext uri="{FF2B5EF4-FFF2-40B4-BE49-F238E27FC236}">
                <a16:creationId xmlns:a16="http://schemas.microsoft.com/office/drawing/2014/main" id="{1595D8B5-4F34-186D-E071-DAA7646D3F85}"/>
              </a:ext>
            </a:extLst>
          </p:cNvPr>
          <p:cNvSpPr txBox="1">
            <a:spLocks/>
          </p:cNvSpPr>
          <p:nvPr/>
        </p:nvSpPr>
        <p:spPr>
          <a:xfrm>
            <a:off x="8156575" y="3260268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Goals</a:t>
            </a:r>
          </a:p>
        </p:txBody>
      </p:sp>
      <p:cxnSp>
        <p:nvCxnSpPr>
          <p:cNvPr id="106" name="Gerade Verbindung 21">
            <a:extLst>
              <a:ext uri="{FF2B5EF4-FFF2-40B4-BE49-F238E27FC236}">
                <a16:creationId xmlns:a16="http://schemas.microsoft.com/office/drawing/2014/main" id="{D1C3B049-54AD-F61C-A785-ED367D4CB333}"/>
              </a:ext>
            </a:extLst>
          </p:cNvPr>
          <p:cNvCxnSpPr>
            <a:cxnSpLocks/>
          </p:cNvCxnSpPr>
          <p:nvPr/>
        </p:nvCxnSpPr>
        <p:spPr>
          <a:xfrm flipH="1">
            <a:off x="8160789" y="3640372"/>
            <a:ext cx="319142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Inhaltsplatzhalter 19">
            <a:extLst>
              <a:ext uri="{FF2B5EF4-FFF2-40B4-BE49-F238E27FC236}">
                <a16:creationId xmlns:a16="http://schemas.microsoft.com/office/drawing/2014/main" id="{C5211120-B653-71D6-D395-B88B4FD6C985}"/>
              </a:ext>
            </a:extLst>
          </p:cNvPr>
          <p:cNvSpPr txBox="1">
            <a:spLocks/>
          </p:cNvSpPr>
          <p:nvPr/>
        </p:nvSpPr>
        <p:spPr>
          <a:xfrm>
            <a:off x="8140286" y="4637271"/>
            <a:ext cx="3294878" cy="36671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Biography</a:t>
            </a:r>
            <a:endParaRPr lang="de-DE" dirty="0"/>
          </a:p>
        </p:txBody>
      </p:sp>
      <p:sp>
        <p:nvSpPr>
          <p:cNvPr id="109" name="Textplatzhalter 25">
            <a:extLst>
              <a:ext uri="{FF2B5EF4-FFF2-40B4-BE49-F238E27FC236}">
                <a16:creationId xmlns:a16="http://schemas.microsoft.com/office/drawing/2014/main" id="{8A211F63-0709-54A7-41CF-0CE9DC550521}"/>
              </a:ext>
            </a:extLst>
          </p:cNvPr>
          <p:cNvSpPr txBox="1">
            <a:spLocks/>
          </p:cNvSpPr>
          <p:nvPr/>
        </p:nvSpPr>
        <p:spPr>
          <a:xfrm>
            <a:off x="3991705" y="1996903"/>
            <a:ext cx="3719911" cy="121615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>
                <a:solidFill>
                  <a:schemeClr val="accent1"/>
                </a:solidFill>
              </a:rPr>
              <a:t>„ </a:t>
            </a:r>
          </a:p>
          <a:p>
            <a:endParaRPr lang="de-DE" b="1" dirty="0">
              <a:solidFill>
                <a:schemeClr val="accent1"/>
              </a:solidFill>
            </a:endParaRPr>
          </a:p>
          <a:p>
            <a:pPr algn="r"/>
            <a:endParaRPr lang="de-DE" b="1" dirty="0">
              <a:solidFill>
                <a:schemeClr val="accent1"/>
              </a:solidFill>
            </a:endParaRPr>
          </a:p>
          <a:p>
            <a:pPr algn="r"/>
            <a:r>
              <a:rPr lang="de-DE" b="1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2352D30E-04CF-160E-FE19-593A57FAC6BD}"/>
              </a:ext>
            </a:extLst>
          </p:cNvPr>
          <p:cNvSpPr/>
          <p:nvPr/>
        </p:nvSpPr>
        <p:spPr>
          <a:xfrm>
            <a:off x="843072" y="5462088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32F49C36-0E85-CEF2-5846-B989BACC7918}"/>
              </a:ext>
            </a:extLst>
          </p:cNvPr>
          <p:cNvSpPr/>
          <p:nvPr/>
        </p:nvSpPr>
        <p:spPr>
          <a:xfrm>
            <a:off x="843072" y="5759799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90FB5927-D2FD-8BAD-DCEE-416102558363}"/>
              </a:ext>
            </a:extLst>
          </p:cNvPr>
          <p:cNvSpPr/>
          <p:nvPr/>
        </p:nvSpPr>
        <p:spPr>
          <a:xfrm>
            <a:off x="843072" y="6085864"/>
            <a:ext cx="2629010" cy="755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8" name="Gerade Verbindung 21">
            <a:extLst>
              <a:ext uri="{FF2B5EF4-FFF2-40B4-BE49-F238E27FC236}">
                <a16:creationId xmlns:a16="http://schemas.microsoft.com/office/drawing/2014/main" id="{3B6ACE6F-9A9F-6D67-5215-602AF86B7564}"/>
              </a:ext>
            </a:extLst>
          </p:cNvPr>
          <p:cNvCxnSpPr>
            <a:cxnSpLocks/>
          </p:cNvCxnSpPr>
          <p:nvPr/>
        </p:nvCxnSpPr>
        <p:spPr>
          <a:xfrm flipH="1">
            <a:off x="841376" y="3641727"/>
            <a:ext cx="270201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8BEF-046D-D3EF-EC06-A89F8B9FA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7F1A699-4913-A97F-522D-C3DB57AB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 Name:</a:t>
            </a:r>
            <a:br>
              <a:rPr lang="de-DE" dirty="0"/>
            </a:br>
            <a:r>
              <a:rPr lang="de-DE" dirty="0"/>
              <a:t>Last Name: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411BAB-E925-D337-8DF7-C95DEF4988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/>
              <a:t>© </a:t>
            </a:r>
            <a:r>
              <a:rPr lang="de-DE" dirty="0" err="1"/>
              <a:t>msg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2026 | User Experience Templates – Persona </a:t>
            </a:r>
            <a:r>
              <a:rPr lang="de-DE" dirty="0">
                <a:hlinkClick r:id="rId3"/>
              </a:rPr>
              <a:t>https://user-experience-methods.com/en/02_define/persona.html</a:t>
            </a:r>
            <a:r>
              <a:rPr lang="de-DE" dirty="0"/>
              <a:t> 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4E97FB13-C3EC-2DF5-55B4-0BD0DB382FC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0479076-8099-F9DA-C949-B82EF472107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User Group:</a:t>
            </a:r>
          </a:p>
        </p:txBody>
      </p:sp>
      <p:sp>
        <p:nvSpPr>
          <p:cNvPr id="65" name="Inhaltsplatzhalter 19">
            <a:extLst>
              <a:ext uri="{FF2B5EF4-FFF2-40B4-BE49-F238E27FC236}">
                <a16:creationId xmlns:a16="http://schemas.microsoft.com/office/drawing/2014/main" id="{E4D56D79-EFAF-D7AF-54B5-BCD7E032F742}"/>
              </a:ext>
            </a:extLst>
          </p:cNvPr>
          <p:cNvSpPr txBox="1">
            <a:spLocks/>
          </p:cNvSpPr>
          <p:nvPr/>
        </p:nvSpPr>
        <p:spPr>
          <a:xfrm>
            <a:off x="828000" y="3518491"/>
            <a:ext cx="3259592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Data</a:t>
            </a:r>
          </a:p>
        </p:txBody>
      </p:sp>
      <p:sp>
        <p:nvSpPr>
          <p:cNvPr id="66" name="Inhaltsplatzhalter 19">
            <a:extLst>
              <a:ext uri="{FF2B5EF4-FFF2-40B4-BE49-F238E27FC236}">
                <a16:creationId xmlns:a16="http://schemas.microsoft.com/office/drawing/2014/main" id="{E51D0D61-6E8F-5012-47B7-6613937264A9}"/>
              </a:ext>
            </a:extLst>
          </p:cNvPr>
          <p:cNvSpPr txBox="1">
            <a:spLocks/>
          </p:cNvSpPr>
          <p:nvPr/>
        </p:nvSpPr>
        <p:spPr>
          <a:xfrm>
            <a:off x="8161165" y="1846263"/>
            <a:ext cx="3259592" cy="366712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(IT) Skills</a:t>
            </a:r>
          </a:p>
        </p:txBody>
      </p:sp>
      <p:sp>
        <p:nvSpPr>
          <p:cNvPr id="67" name="Textplatzhalter 24">
            <a:extLst>
              <a:ext uri="{FF2B5EF4-FFF2-40B4-BE49-F238E27FC236}">
                <a16:creationId xmlns:a16="http://schemas.microsoft.com/office/drawing/2014/main" id="{C2B0C99A-2111-3782-3319-8110E961E844}"/>
              </a:ext>
            </a:extLst>
          </p:cNvPr>
          <p:cNvSpPr txBox="1">
            <a:spLocks/>
          </p:cNvSpPr>
          <p:nvPr/>
        </p:nvSpPr>
        <p:spPr>
          <a:xfrm>
            <a:off x="755885" y="4018226"/>
            <a:ext cx="2559413" cy="10459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Age: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Job: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Family: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	</a:t>
            </a:r>
          </a:p>
          <a:p>
            <a:pPr>
              <a:lnSpc>
                <a:spcPct val="100000"/>
              </a:lnSpc>
              <a:tabLst>
                <a:tab pos="3240000" algn="r"/>
              </a:tabLst>
            </a:pPr>
            <a:r>
              <a:rPr lang="de-DE" sz="1200" dirty="0"/>
              <a:t>Place </a:t>
            </a:r>
            <a:r>
              <a:rPr lang="de-DE" sz="1200" dirty="0" err="1"/>
              <a:t>of</a:t>
            </a:r>
            <a:r>
              <a:rPr lang="de-DE" sz="1200" dirty="0"/>
              <a:t> Residence: 	</a:t>
            </a:r>
          </a:p>
        </p:txBody>
      </p:sp>
      <p:cxnSp>
        <p:nvCxnSpPr>
          <p:cNvPr id="68" name="Gerade Verbindung 18">
            <a:extLst>
              <a:ext uri="{FF2B5EF4-FFF2-40B4-BE49-F238E27FC236}">
                <a16:creationId xmlns:a16="http://schemas.microsoft.com/office/drawing/2014/main" id="{26410BAE-2BA0-F83F-779E-F3707C9C1153}"/>
              </a:ext>
            </a:extLst>
          </p:cNvPr>
          <p:cNvCxnSpPr>
            <a:cxnSpLocks/>
          </p:cNvCxnSpPr>
          <p:nvPr/>
        </p:nvCxnSpPr>
        <p:spPr>
          <a:xfrm flipH="1">
            <a:off x="828000" y="3905523"/>
            <a:ext cx="239720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461C00A7-7CEF-4185-547F-1B8DE6BE9247}"/>
              </a:ext>
            </a:extLst>
          </p:cNvPr>
          <p:cNvCxnSpPr/>
          <p:nvPr/>
        </p:nvCxnSpPr>
        <p:spPr>
          <a:xfrm>
            <a:off x="3466422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>
            <a:extLst>
              <a:ext uri="{FF2B5EF4-FFF2-40B4-BE49-F238E27FC236}">
                <a16:creationId xmlns:a16="http://schemas.microsoft.com/office/drawing/2014/main" id="{3FE7E24F-7A82-2626-BBB0-DB19CCC35929}"/>
              </a:ext>
            </a:extLst>
          </p:cNvPr>
          <p:cNvCxnSpPr/>
          <p:nvPr/>
        </p:nvCxnSpPr>
        <p:spPr>
          <a:xfrm>
            <a:off x="7982359" y="1839641"/>
            <a:ext cx="0" cy="4462462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32">
            <a:extLst>
              <a:ext uri="{FF2B5EF4-FFF2-40B4-BE49-F238E27FC236}">
                <a16:creationId xmlns:a16="http://schemas.microsoft.com/office/drawing/2014/main" id="{445CE63D-1F00-AD06-01AB-912E20D2DC86}"/>
              </a:ext>
            </a:extLst>
          </p:cNvPr>
          <p:cNvCxnSpPr>
            <a:cxnSpLocks/>
          </p:cNvCxnSpPr>
          <p:nvPr/>
        </p:nvCxnSpPr>
        <p:spPr>
          <a:xfrm flipH="1">
            <a:off x="8133478" y="2226198"/>
            <a:ext cx="326969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CACFA4A-CF6A-D508-F84D-C31742AECB04}"/>
              </a:ext>
            </a:extLst>
          </p:cNvPr>
          <p:cNvGrpSpPr/>
          <p:nvPr/>
        </p:nvGrpSpPr>
        <p:grpSpPr>
          <a:xfrm>
            <a:off x="8175341" y="2345296"/>
            <a:ext cx="3259592" cy="1604912"/>
            <a:chOff x="8091032" y="2345296"/>
            <a:chExt cx="3259592" cy="1604912"/>
          </a:xfrm>
        </p:grpSpPr>
        <p:sp>
          <p:nvSpPr>
            <p:cNvPr id="73" name="Textplatzhalter 25">
              <a:extLst>
                <a:ext uri="{FF2B5EF4-FFF2-40B4-BE49-F238E27FC236}">
                  <a16:creationId xmlns:a16="http://schemas.microsoft.com/office/drawing/2014/main" id="{C3C6107B-1A02-7EC6-50E8-05BD8E72504C}"/>
                </a:ext>
              </a:extLst>
            </p:cNvPr>
            <p:cNvSpPr txBox="1">
              <a:spLocks/>
            </p:cNvSpPr>
            <p:nvPr/>
          </p:nvSpPr>
          <p:spPr>
            <a:xfrm>
              <a:off x="8091032" y="2345296"/>
              <a:ext cx="3259592" cy="1604912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Clr>
                  <a:schemeClr val="accent1"/>
                </a:buClr>
                <a:buFontTx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44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0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60000" indent="-144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  <a:p>
              <a:pPr lvl="0">
                <a:buClrTx/>
                <a:defRPr/>
              </a:pPr>
              <a:endParaRPr lang="de-DE" dirty="0">
                <a:solidFill>
                  <a:prstClr val="black"/>
                </a:solidFill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2193C3AA-4F8F-2DE7-6BF4-D97E4908A1F1}"/>
                </a:ext>
              </a:extLst>
            </p:cNvPr>
            <p:cNvSpPr/>
            <p:nvPr/>
          </p:nvSpPr>
          <p:spPr>
            <a:xfrm>
              <a:off x="8192910" y="2608697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0F23341D-B173-E3B5-840E-4262560713EC}"/>
                </a:ext>
              </a:extLst>
            </p:cNvPr>
            <p:cNvSpPr/>
            <p:nvPr/>
          </p:nvSpPr>
          <p:spPr>
            <a:xfrm>
              <a:off x="8192910" y="2978091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44C73CFB-1F98-F862-FBB3-AEFCAEBB3440}"/>
                </a:ext>
              </a:extLst>
            </p:cNvPr>
            <p:cNvSpPr/>
            <p:nvPr/>
          </p:nvSpPr>
          <p:spPr>
            <a:xfrm>
              <a:off x="8186854" y="3335373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BCBD66EC-4A8D-99F6-EC32-768487C0AC61}"/>
                </a:ext>
              </a:extLst>
            </p:cNvPr>
            <p:cNvSpPr/>
            <p:nvPr/>
          </p:nvSpPr>
          <p:spPr>
            <a:xfrm>
              <a:off x="8186854" y="3704767"/>
              <a:ext cx="3075306" cy="11111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de-DE">
                <a:solidFill>
                  <a:schemeClr val="tx1"/>
                </a:solidFill>
              </a:endParaRPr>
            </a:p>
          </p:txBody>
        </p:sp>
      </p:grpSp>
      <p:sp>
        <p:nvSpPr>
          <p:cNvPr id="82" name="Inhaltsplatzhalter 19">
            <a:extLst>
              <a:ext uri="{FF2B5EF4-FFF2-40B4-BE49-F238E27FC236}">
                <a16:creationId xmlns:a16="http://schemas.microsoft.com/office/drawing/2014/main" id="{3794BF85-6F83-2DF4-3CA0-8B8962030613}"/>
              </a:ext>
            </a:extLst>
          </p:cNvPr>
          <p:cNvSpPr txBox="1">
            <a:spLocks/>
          </p:cNvSpPr>
          <p:nvPr/>
        </p:nvSpPr>
        <p:spPr>
          <a:xfrm>
            <a:off x="8176523" y="4196380"/>
            <a:ext cx="3259592" cy="366712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Personality</a:t>
            </a:r>
          </a:p>
        </p:txBody>
      </p:sp>
      <p:sp>
        <p:nvSpPr>
          <p:cNvPr id="83" name="Textplatzhalter 25">
            <a:extLst>
              <a:ext uri="{FF2B5EF4-FFF2-40B4-BE49-F238E27FC236}">
                <a16:creationId xmlns:a16="http://schemas.microsoft.com/office/drawing/2014/main" id="{CB656480-5100-5843-53A9-6D8CDDE77F1A}"/>
              </a:ext>
            </a:extLst>
          </p:cNvPr>
          <p:cNvSpPr txBox="1">
            <a:spLocks/>
          </p:cNvSpPr>
          <p:nvPr/>
        </p:nvSpPr>
        <p:spPr>
          <a:xfrm>
            <a:off x="8185076" y="4703813"/>
            <a:ext cx="3259592" cy="16049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Tx/>
              <a:tabLst>
                <a:tab pos="3240000" algn="r"/>
              </a:tabLst>
              <a:defRPr/>
            </a:pPr>
            <a:r>
              <a:rPr lang="de-DE" dirty="0" err="1">
                <a:solidFill>
                  <a:prstClr val="black"/>
                </a:solidFill>
              </a:rPr>
              <a:t>introverted</a:t>
            </a:r>
            <a:r>
              <a:rPr lang="de-DE" dirty="0">
                <a:solidFill>
                  <a:prstClr val="black"/>
                </a:solidFill>
              </a:rPr>
              <a:t>	</a:t>
            </a:r>
            <a:r>
              <a:rPr lang="de-DE" dirty="0" err="1">
                <a:solidFill>
                  <a:prstClr val="black"/>
                </a:solidFill>
              </a:rPr>
              <a:t>extroverted</a:t>
            </a:r>
            <a:endParaRPr lang="de-DE" dirty="0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r>
              <a:rPr lang="de-DE" dirty="0" err="1">
                <a:solidFill>
                  <a:prstClr val="black"/>
                </a:solidFill>
              </a:rPr>
              <a:t>analytical</a:t>
            </a:r>
            <a:r>
              <a:rPr lang="de-DE" dirty="0">
                <a:solidFill>
                  <a:prstClr val="black"/>
                </a:solidFill>
              </a:rPr>
              <a:t>	</a:t>
            </a:r>
            <a:r>
              <a:rPr lang="de-DE" dirty="0" err="1">
                <a:solidFill>
                  <a:prstClr val="black"/>
                </a:solidFill>
              </a:rPr>
              <a:t>creative</a:t>
            </a:r>
            <a:endParaRPr lang="de-DE" dirty="0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r>
              <a:rPr lang="de-DE" dirty="0" err="1">
                <a:solidFill>
                  <a:prstClr val="black"/>
                </a:solidFill>
              </a:rPr>
              <a:t>conservative</a:t>
            </a:r>
            <a:r>
              <a:rPr lang="de-DE" dirty="0">
                <a:solidFill>
                  <a:prstClr val="black"/>
                </a:solidFill>
              </a:rPr>
              <a:t> 	liberal</a:t>
            </a:r>
          </a:p>
          <a:p>
            <a:pPr lvl="0">
              <a:buClrTx/>
              <a:tabLst>
                <a:tab pos="3240000" algn="r"/>
              </a:tabLst>
              <a:defRPr/>
            </a:pPr>
            <a:endParaRPr lang="de-DE" dirty="0">
              <a:solidFill>
                <a:prstClr val="black"/>
              </a:solidFill>
            </a:endParaRPr>
          </a:p>
          <a:p>
            <a:pPr lvl="0">
              <a:buClrTx/>
              <a:tabLst>
                <a:tab pos="3240000" algn="r"/>
              </a:tabLst>
              <a:defRPr/>
            </a:pPr>
            <a:r>
              <a:rPr lang="de-DE" dirty="0">
                <a:solidFill>
                  <a:prstClr val="black"/>
                </a:solidFill>
              </a:rPr>
              <a:t>passive 	</a:t>
            </a:r>
            <a:r>
              <a:rPr lang="de-DE" dirty="0" err="1">
                <a:solidFill>
                  <a:prstClr val="black"/>
                </a:solidFill>
              </a:rPr>
              <a:t>active</a:t>
            </a:r>
            <a:endParaRPr lang="de-DE" dirty="0">
              <a:solidFill>
                <a:prstClr val="black"/>
              </a:solidFill>
            </a:endParaRPr>
          </a:p>
        </p:txBody>
      </p:sp>
      <p:cxnSp>
        <p:nvCxnSpPr>
          <p:cNvPr id="84" name="Gerade Verbindung 32">
            <a:extLst>
              <a:ext uri="{FF2B5EF4-FFF2-40B4-BE49-F238E27FC236}">
                <a16:creationId xmlns:a16="http://schemas.microsoft.com/office/drawing/2014/main" id="{B055D8A6-F9BE-94EC-0B42-513A40BD30C4}"/>
              </a:ext>
            </a:extLst>
          </p:cNvPr>
          <p:cNvCxnSpPr>
            <a:cxnSpLocks/>
          </p:cNvCxnSpPr>
          <p:nvPr/>
        </p:nvCxnSpPr>
        <p:spPr>
          <a:xfrm flipH="1">
            <a:off x="8148836" y="4576315"/>
            <a:ext cx="326969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16160615-B2C7-5AF0-2E74-38E5360C0849}"/>
              </a:ext>
            </a:extLst>
          </p:cNvPr>
          <p:cNvSpPr/>
          <p:nvPr/>
        </p:nvSpPr>
        <p:spPr>
          <a:xfrm>
            <a:off x="8278401" y="4958814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FDF2886A-A9A6-4243-341B-78A6D079DB14}"/>
              </a:ext>
            </a:extLst>
          </p:cNvPr>
          <p:cNvSpPr/>
          <p:nvPr/>
        </p:nvSpPr>
        <p:spPr>
          <a:xfrm>
            <a:off x="8278401" y="5328208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87A42F23-71B8-C303-336C-004B4F92EFAC}"/>
              </a:ext>
            </a:extLst>
          </p:cNvPr>
          <p:cNvSpPr/>
          <p:nvPr/>
        </p:nvSpPr>
        <p:spPr>
          <a:xfrm>
            <a:off x="8272345" y="5685490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2374B528-44D9-3208-0731-65CD252300E0}"/>
              </a:ext>
            </a:extLst>
          </p:cNvPr>
          <p:cNvSpPr/>
          <p:nvPr/>
        </p:nvSpPr>
        <p:spPr>
          <a:xfrm>
            <a:off x="8272345" y="6054884"/>
            <a:ext cx="3075306" cy="111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93" name="Inhaltsplatzhalter 19">
            <a:extLst>
              <a:ext uri="{FF2B5EF4-FFF2-40B4-BE49-F238E27FC236}">
                <a16:creationId xmlns:a16="http://schemas.microsoft.com/office/drawing/2014/main" id="{1133DD8F-DD82-D97A-B475-83A6FBF835AC}"/>
              </a:ext>
            </a:extLst>
          </p:cNvPr>
          <p:cNvSpPr txBox="1">
            <a:spLocks/>
          </p:cNvSpPr>
          <p:nvPr/>
        </p:nvSpPr>
        <p:spPr>
          <a:xfrm>
            <a:off x="3650290" y="1857835"/>
            <a:ext cx="1948111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Pain Points</a:t>
            </a:r>
          </a:p>
        </p:txBody>
      </p:sp>
      <p:cxnSp>
        <p:nvCxnSpPr>
          <p:cNvPr id="95" name="Gerade Verbindung 21">
            <a:extLst>
              <a:ext uri="{FF2B5EF4-FFF2-40B4-BE49-F238E27FC236}">
                <a16:creationId xmlns:a16="http://schemas.microsoft.com/office/drawing/2014/main" id="{3E6D4FA1-121D-1240-E9B9-AA429F4A0FDF}"/>
              </a:ext>
            </a:extLst>
          </p:cNvPr>
          <p:cNvCxnSpPr>
            <a:cxnSpLocks/>
          </p:cNvCxnSpPr>
          <p:nvPr/>
        </p:nvCxnSpPr>
        <p:spPr>
          <a:xfrm flipH="1">
            <a:off x="3614992" y="2225902"/>
            <a:ext cx="198340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nhaltsplatzhalter 19">
            <a:extLst>
              <a:ext uri="{FF2B5EF4-FFF2-40B4-BE49-F238E27FC236}">
                <a16:creationId xmlns:a16="http://schemas.microsoft.com/office/drawing/2014/main" id="{6D849B99-D772-04B0-1828-C816D5B4A377}"/>
              </a:ext>
            </a:extLst>
          </p:cNvPr>
          <p:cNvSpPr txBox="1">
            <a:spLocks/>
          </p:cNvSpPr>
          <p:nvPr/>
        </p:nvSpPr>
        <p:spPr>
          <a:xfrm>
            <a:off x="5894165" y="1853471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Usage</a:t>
            </a:r>
            <a:r>
              <a:rPr lang="de-DE" dirty="0"/>
              <a:t> Motivation</a:t>
            </a:r>
          </a:p>
        </p:txBody>
      </p:sp>
      <p:cxnSp>
        <p:nvCxnSpPr>
          <p:cNvPr id="98" name="Gerade Verbindung 21">
            <a:extLst>
              <a:ext uri="{FF2B5EF4-FFF2-40B4-BE49-F238E27FC236}">
                <a16:creationId xmlns:a16="http://schemas.microsoft.com/office/drawing/2014/main" id="{2DACC3E0-CC13-D8D9-DE1D-5051068451A3}"/>
              </a:ext>
            </a:extLst>
          </p:cNvPr>
          <p:cNvCxnSpPr>
            <a:cxnSpLocks/>
          </p:cNvCxnSpPr>
          <p:nvPr/>
        </p:nvCxnSpPr>
        <p:spPr>
          <a:xfrm flipH="1">
            <a:off x="5871885" y="2226403"/>
            <a:ext cx="1959347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21">
            <a:extLst>
              <a:ext uri="{FF2B5EF4-FFF2-40B4-BE49-F238E27FC236}">
                <a16:creationId xmlns:a16="http://schemas.microsoft.com/office/drawing/2014/main" id="{00B73B27-AE5E-44CF-0082-5E296B6A45FA}"/>
              </a:ext>
            </a:extLst>
          </p:cNvPr>
          <p:cNvCxnSpPr>
            <a:cxnSpLocks/>
          </p:cNvCxnSpPr>
          <p:nvPr/>
        </p:nvCxnSpPr>
        <p:spPr>
          <a:xfrm flipH="1">
            <a:off x="3650290" y="5281553"/>
            <a:ext cx="4153264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F3DD38D4-3A5B-7D7C-9A8B-E8323359FFCF}"/>
              </a:ext>
            </a:extLst>
          </p:cNvPr>
          <p:cNvCxnSpPr>
            <a:cxnSpLocks/>
          </p:cNvCxnSpPr>
          <p:nvPr/>
        </p:nvCxnSpPr>
        <p:spPr>
          <a:xfrm>
            <a:off x="5749522" y="1940589"/>
            <a:ext cx="0" cy="2947467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Inhaltsplatzhalter 19">
            <a:extLst>
              <a:ext uri="{FF2B5EF4-FFF2-40B4-BE49-F238E27FC236}">
                <a16:creationId xmlns:a16="http://schemas.microsoft.com/office/drawing/2014/main" id="{7C3CF964-6560-1632-C0DF-1B28CBD57F97}"/>
              </a:ext>
            </a:extLst>
          </p:cNvPr>
          <p:cNvSpPr txBox="1">
            <a:spLocks/>
          </p:cNvSpPr>
          <p:nvPr/>
        </p:nvSpPr>
        <p:spPr>
          <a:xfrm>
            <a:off x="3650290" y="3303315"/>
            <a:ext cx="1948111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Wishes</a:t>
            </a:r>
            <a:endParaRPr lang="de-DE" dirty="0"/>
          </a:p>
        </p:txBody>
      </p:sp>
      <p:cxnSp>
        <p:nvCxnSpPr>
          <p:cNvPr id="103" name="Gerade Verbindung 21">
            <a:extLst>
              <a:ext uri="{FF2B5EF4-FFF2-40B4-BE49-F238E27FC236}">
                <a16:creationId xmlns:a16="http://schemas.microsoft.com/office/drawing/2014/main" id="{8938A6CA-107C-8E1C-7A6D-520B07D4E89A}"/>
              </a:ext>
            </a:extLst>
          </p:cNvPr>
          <p:cNvCxnSpPr>
            <a:cxnSpLocks/>
          </p:cNvCxnSpPr>
          <p:nvPr/>
        </p:nvCxnSpPr>
        <p:spPr>
          <a:xfrm flipH="1">
            <a:off x="3601522" y="3683250"/>
            <a:ext cx="1996879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Inhaltsplatzhalter 19">
            <a:extLst>
              <a:ext uri="{FF2B5EF4-FFF2-40B4-BE49-F238E27FC236}">
                <a16:creationId xmlns:a16="http://schemas.microsoft.com/office/drawing/2014/main" id="{02809EF4-E680-C9A9-748E-7BAC28B9F1D5}"/>
              </a:ext>
            </a:extLst>
          </p:cNvPr>
          <p:cNvSpPr txBox="1">
            <a:spLocks/>
          </p:cNvSpPr>
          <p:nvPr/>
        </p:nvSpPr>
        <p:spPr>
          <a:xfrm>
            <a:off x="5894165" y="3303146"/>
            <a:ext cx="1909388" cy="366712"/>
          </a:xfrm>
          <a:prstGeom prst="rect">
            <a:avLst/>
          </a:prstGeom>
          <a:noFill/>
        </p:spPr>
        <p:txBody>
          <a:bodyPr l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Goals</a:t>
            </a:r>
          </a:p>
        </p:txBody>
      </p:sp>
      <p:cxnSp>
        <p:nvCxnSpPr>
          <p:cNvPr id="106" name="Gerade Verbindung 21">
            <a:extLst>
              <a:ext uri="{FF2B5EF4-FFF2-40B4-BE49-F238E27FC236}">
                <a16:creationId xmlns:a16="http://schemas.microsoft.com/office/drawing/2014/main" id="{EDF62986-A4C1-2FC3-87C5-A76C7CBCF1B8}"/>
              </a:ext>
            </a:extLst>
          </p:cNvPr>
          <p:cNvCxnSpPr>
            <a:cxnSpLocks/>
          </p:cNvCxnSpPr>
          <p:nvPr/>
        </p:nvCxnSpPr>
        <p:spPr>
          <a:xfrm flipH="1">
            <a:off x="5898377" y="3683250"/>
            <a:ext cx="1932855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Inhaltsplatzhalter 19">
            <a:extLst>
              <a:ext uri="{FF2B5EF4-FFF2-40B4-BE49-F238E27FC236}">
                <a16:creationId xmlns:a16="http://schemas.microsoft.com/office/drawing/2014/main" id="{59C95D77-46CD-6292-F4A0-31821F018049}"/>
              </a:ext>
            </a:extLst>
          </p:cNvPr>
          <p:cNvSpPr txBox="1">
            <a:spLocks/>
          </p:cNvSpPr>
          <p:nvPr/>
        </p:nvSpPr>
        <p:spPr>
          <a:xfrm>
            <a:off x="3645227" y="4888056"/>
            <a:ext cx="3294878" cy="366712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400" b="1" kern="1200">
                <a:solidFill>
                  <a:srgbClr val="A0144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Biography</a:t>
            </a:r>
            <a:endParaRPr lang="de-DE" dirty="0"/>
          </a:p>
        </p:txBody>
      </p:sp>
      <p:sp>
        <p:nvSpPr>
          <p:cNvPr id="109" name="Textplatzhalter 25">
            <a:extLst>
              <a:ext uri="{FF2B5EF4-FFF2-40B4-BE49-F238E27FC236}">
                <a16:creationId xmlns:a16="http://schemas.microsoft.com/office/drawing/2014/main" id="{8EC448B8-B73A-F289-E3FC-7D9B1C363BA5}"/>
              </a:ext>
            </a:extLst>
          </p:cNvPr>
          <p:cNvSpPr txBox="1">
            <a:spLocks/>
          </p:cNvSpPr>
          <p:nvPr/>
        </p:nvSpPr>
        <p:spPr>
          <a:xfrm>
            <a:off x="841375" y="5310016"/>
            <a:ext cx="2383830" cy="8558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accent1"/>
                </a:solidFill>
              </a:rPr>
              <a:t>„ </a:t>
            </a:r>
          </a:p>
          <a:p>
            <a:endParaRPr lang="de-DE" dirty="0">
              <a:solidFill>
                <a:schemeClr val="accent1"/>
              </a:solidFill>
            </a:endParaRPr>
          </a:p>
          <a:p>
            <a:endParaRPr lang="de-DE" dirty="0">
              <a:solidFill>
                <a:schemeClr val="accent1"/>
              </a:solidFill>
            </a:endParaRPr>
          </a:p>
          <a:p>
            <a:pPr algn="r"/>
            <a:r>
              <a:rPr lang="de-DE" dirty="0">
                <a:solidFill>
                  <a:schemeClr val="accent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593362372"/>
      </p:ext>
    </p:extLst>
  </p:cSld>
  <p:clrMapOvr>
    <a:masterClrMapping/>
  </p:clrMapOvr>
</p:sld>
</file>

<file path=ppt/theme/theme1.xml><?xml version="1.0" encoding="utf-8"?>
<a:theme xmlns:a="http://schemas.openxmlformats.org/drawingml/2006/main" name="msg Master klein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PPT_Master-Template_msg_klein_2020.potx" id="{1F747BAA-E776-4F10-BABF-DA8878147C3A}" vid="{5157A09C-76B9-4CC0-A66A-D81A2134F405}"/>
    </a:ext>
  </a:extLst>
</a:theme>
</file>

<file path=ppt/theme/theme2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msg_group_dokument" ma:contentTypeID="0x010100C7CE61CC9E288946BEFBDDE329B145E800E099B3B09A02E047B856306410CCD360" ma:contentTypeVersion="33" ma:contentTypeDescription="Ein neues Dokument erstellen." ma:contentTypeScope="" ma:versionID="1802f6f6bd39ed322181cebadc035169">
  <xsd:schema xmlns:xsd="http://www.w3.org/2001/XMLSchema" xmlns:xs="http://www.w3.org/2001/XMLSchema" xmlns:p="http://schemas.microsoft.com/office/2006/metadata/properties" xmlns:ns2="f719ecbf-a19d-4b01-ba1f-7ffa0d8a5235" xmlns:ns4="3c757777-1ef4-4ef1-8186-b47ba6172be4" targetNamespace="http://schemas.microsoft.com/office/2006/metadata/properties" ma:root="true" ma:fieldsID="e5aa37571a04c28a3dd4bcf43f61a63d" ns2:_="" ns4:_="">
    <xsd:import namespace="f719ecbf-a19d-4b01-ba1f-7ffa0d8a5235"/>
    <xsd:import namespace="3c757777-1ef4-4ef1-8186-b47ba6172be4"/>
    <xsd:element name="properties">
      <xsd:complexType>
        <xsd:sequence>
          <xsd:element name="documentManagement">
            <xsd:complexType>
              <xsd:all>
                <xsd:element ref="ns2:msg_Klassifizierung" minOccurs="0"/>
                <xsd:element ref="ns2:msg_Status" minOccurs="0"/>
                <xsd:element ref="ns2:msg_Version" minOccurs="0"/>
                <xsd:element ref="ns2:msg_Firma" minOccurs="0"/>
                <xsd:element ref="ns2:msg_Manager" minOccurs="0"/>
                <xsd:element ref="ns2:msg_Dokumententyp" minOccurs="0"/>
                <xsd:element ref="ns2:msg_Kommentar" minOccurs="0"/>
                <xsd:element ref="ns2:msg_gueltig_ab" minOccurs="0"/>
                <xsd:element ref="ns2:msg_gueltig_bis" minOccurs="0"/>
                <xsd:element ref="ns2:TaxCatchAll" minOccurs="0"/>
                <xsd:element ref="ns2:TaxCatchAllLabel" minOccurs="0"/>
                <xsd:element ref="ns4:Mappenstatus"/>
                <xsd:element ref="ns4:jec0c8c6f490443cb5bef598bc1f4264" minOccurs="0"/>
                <xsd:element ref="ns4:_dlc_DocId" minOccurs="0"/>
                <xsd:element ref="ns4:_dlc_DocIdUrl" minOccurs="0"/>
                <xsd:element ref="ns4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9ecbf-a19d-4b01-ba1f-7ffa0d8a5235" elementFormDefault="qualified">
    <xsd:import namespace="http://schemas.microsoft.com/office/2006/documentManagement/types"/>
    <xsd:import namespace="http://schemas.microsoft.com/office/infopath/2007/PartnerControls"/>
    <xsd:element name="msg_Klassifizierung" ma:index="2" nillable="true" ma:displayName="msg_Klassifizierung" ma:default="internal" ma:format="Dropdown" ma:internalName="msg_Klassifizierung" ma:readOnly="false">
      <xsd:simpleType>
        <xsd:union memberTypes="dms:Text">
          <xsd:simpleType>
            <xsd:restriction base="dms:Choice">
              <xsd:enumeration value="public"/>
              <xsd:enumeration value="internal"/>
              <xsd:enumeration value="confidential"/>
              <xsd:enumeration value="strictly confidential"/>
            </xsd:restriction>
          </xsd:simpleType>
        </xsd:union>
      </xsd:simpleType>
    </xsd:element>
    <xsd:element name="msg_Status" ma:index="3" nillable="true" ma:displayName="msg_Status" ma:default="draft" ma:format="Dropdown" ma:internalName="msg_Status" ma:readOnly="false">
      <xsd:simpleType>
        <xsd:union memberTypes="dms:Text">
          <xsd:simpleType>
            <xsd:restriction base="dms:Choice">
              <xsd:enumeration value="draft"/>
              <xsd:enumeration value="final"/>
              <xsd:enumeration value="review"/>
            </xsd:restriction>
          </xsd:simpleType>
        </xsd:union>
      </xsd:simpleType>
    </xsd:element>
    <xsd:element name="msg_Version" ma:index="5" nillable="true" ma:displayName="msg_Version" ma:internalName="msg_Version" ma:readOnly="false">
      <xsd:simpleType>
        <xsd:restriction base="dms:Text">
          <xsd:maxLength value="255"/>
        </xsd:restriction>
      </xsd:simpleType>
    </xsd:element>
    <xsd:element name="msg_Firma" ma:index="6" nillable="true" ma:displayName="msg_Firma" ma:internalName="msg_Firma" ma:readOnly="false">
      <xsd:simpleType>
        <xsd:restriction base="dms:Text">
          <xsd:maxLength value="255"/>
        </xsd:restriction>
      </xsd:simpleType>
    </xsd:element>
    <xsd:element name="msg_Manager" ma:index="7" nillable="true" ma:displayName="msg_Manager" ma:internalName="msg_Manager" ma:readOnly="false">
      <xsd:simpleType>
        <xsd:restriction base="dms:Text">
          <xsd:maxLength value="255"/>
        </xsd:restriction>
      </xsd:simpleType>
    </xsd:element>
    <xsd:element name="msg_Dokumententyp" ma:index="8" nillable="true" ma:displayName="msg_Dokumententyp" ma:default="Schriftwechsel (allgemein)" ma:format="Dropdown" ma:internalName="msg_Dokumententyp" ma:readOnly="false">
      <xsd:simpleType>
        <xsd:restriction base="dms:Choice">
          <xsd:enumeration value="Angebote"/>
          <xsd:enumeration value="Ausgangsrechnungen"/>
          <xsd:enumeration value="Bestell- und Auftragsunterlagen"/>
          <xsd:enumeration value="Eingangsrechnungen"/>
          <xsd:enumeration value="Rechnungen"/>
          <xsd:enumeration value="Reisekostenabrechnungen"/>
          <xsd:enumeration value="Schriftwechsel (allgemein)"/>
          <xsd:enumeration value="Telefonkostennachweise (soweit Buchungsbelege)"/>
          <xsd:enumeration value="Überstundenlisten"/>
          <xsd:enumeration value="Verträge (soweit nicht Buchungsgrundlage)"/>
          <xsd:enumeration value="Projektunterlagen"/>
        </xsd:restriction>
      </xsd:simpleType>
    </xsd:element>
    <xsd:element name="msg_Kommentar" ma:index="9" nillable="true" ma:displayName="msg_Kommentar" ma:internalName="msg_Kommentar" ma:readOnly="false">
      <xsd:simpleType>
        <xsd:restriction base="dms:Note"/>
      </xsd:simpleType>
    </xsd:element>
    <xsd:element name="msg_gueltig_ab" ma:index="10" nillable="true" ma:displayName="msg_gueltig_ab" ma:format="DateOnly" ma:internalName="msg_gueltig_ab" ma:readOnly="false">
      <xsd:simpleType>
        <xsd:restriction base="dms:DateTime"/>
      </xsd:simpleType>
    </xsd:element>
    <xsd:element name="msg_gueltig_bis" ma:index="11" nillable="true" ma:displayName="msg_gueltig_bis" ma:format="DateOnly" ma:internalName="msg_gueltig_bis" ma:readOnly="false">
      <xsd:simpleType>
        <xsd:restriction base="dms:DateTime"/>
      </xsd:simpleType>
    </xsd:element>
    <xsd:element name="TaxCatchAll" ma:index="18" nillable="true" ma:displayName="Taxonomy Catch All Column" ma:hidden="true" ma:list="{c9e4e77b-c84a-4b10-a896-f56a931cdefc}" ma:internalName="TaxCatchAll" ma:showField="CatchAllData" ma:web="3c757777-1ef4-4ef1-8186-b47ba6172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9" nillable="true" ma:displayName="Taxonomy Catch All Column1" ma:hidden="true" ma:list="{c9e4e77b-c84a-4b10-a896-f56a931cdefc}" ma:internalName="TaxCatchAllLabel" ma:readOnly="true" ma:showField="CatchAllDataLabel" ma:web="3c757777-1ef4-4ef1-8186-b47ba6172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57777-1ef4-4ef1-8186-b47ba6172be4" elementFormDefault="qualified">
    <xsd:import namespace="http://schemas.microsoft.com/office/2006/documentManagement/types"/>
    <xsd:import namespace="http://schemas.microsoft.com/office/infopath/2007/PartnerControls"/>
    <xsd:element name="Mappenstatus" ma:index="21" ma:displayName="Mappenstatus" ma:default="OPEN" ma:description="Spiegelt den Status einer Dokumentenmappe wieder." ma:format="Dropdown" ma:internalName="Mappenstatus" ma:readOnly="false">
      <xsd:simpleType>
        <xsd:restriction base="dms:Choice">
          <xsd:enumeration value="OPEN"/>
          <xsd:enumeration value="CLOSED"/>
          <xsd:enumeration value="ARCHIVED"/>
          <xsd:enumeration value="DISCARDED"/>
        </xsd:restriction>
      </xsd:simpleType>
    </xsd:element>
    <xsd:element name="jec0c8c6f490443cb5bef598bc1f4264" ma:index="22" nillable="true" ma:taxonomy="true" ma:internalName="jec0c8c6f490443cb5bef598bc1f4264" ma:taxonomyFieldName="Bezug" ma:displayName="Bezug" ma:readOnly="false" ma:fieldId="{3ec0c8c6-f490-443c-b5be-f598bc1f4264}" ma:taxonomyMulti="true" ma:sspId="a53a62bb-fe8c-40a9-b721-69dc556ec299" ma:termSetId="bc19e16c-5bf5-4037-9da8-c9c82bbbc80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_dlc_DocId" ma:index="23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2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4" ma:displayName="Autor"/>
        <xsd:element ref="dcterms:created" minOccurs="0" maxOccurs="1"/>
        <xsd:element ref="dc:identifier" minOccurs="0" maxOccurs="1"/>
        <xsd:element name="contentType" minOccurs="0" maxOccurs="1" type="xsd:string" ma:index="13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a53a62bb-fe8c-40a9-b721-69dc556ec299" ContentTypeId="0x010100C7CE61CC9E288946BEFBDDE329B145E8" PreviousValue="false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sg_Firma xmlns="f719ecbf-a19d-4b01-ba1f-7ffa0d8a5235">msg systems ag</msg_Firma>
    <msg_gueltig_bis xmlns="f719ecbf-a19d-4b01-ba1f-7ffa0d8a5235">2027-12-31T12:00:00+00:00</msg_gueltig_bis>
    <_dlc_DocId xmlns="3c757777-1ef4-4ef1-8186-b47ba6172be4">XTDOC-210768851-138046</_dlc_DocId>
    <msg_Manager xmlns="f719ecbf-a19d-4b01-ba1f-7ffa0d8a5235">[Dokumentverantwortlicher]</msg_Manager>
    <jec0c8c6f490443cb5bef598bc1f4264 xmlns="3c757777-1ef4-4ef1-8186-b47ba6172be4">
      <Terms xmlns="http://schemas.microsoft.com/office/infopath/2007/PartnerControls"/>
    </jec0c8c6f490443cb5bef598bc1f4264>
    <msg_Status xmlns="f719ecbf-a19d-4b01-ba1f-7ffa0d8a5235">draft</msg_Status>
    <msg_Klassifizierung xmlns="f719ecbf-a19d-4b01-ba1f-7ffa0d8a5235">internal</msg_Klassifizierung>
    <Mappenstatus xmlns="3c757777-1ef4-4ef1-8186-b47ba6172be4">OPEN</Mappenstatus>
    <msg_gueltig_ab xmlns="f719ecbf-a19d-4b01-ba1f-7ffa0d8a5235">2021-09-22T12:00:00+00:00</msg_gueltig_ab>
    <msg_Version xmlns="f719ecbf-a19d-4b01-ba1f-7ffa0d8a5235">0.1</msg_Version>
    <_dlc_DocIdPersistId xmlns="3c757777-1ef4-4ef1-8186-b47ba6172be4" xsi:nil="true"/>
    <msg_Kommentar xmlns="f719ecbf-a19d-4b01-ba1f-7ffa0d8a5235">Neues Dokument erstellt.</msg_Kommentar>
    <_dlc_DocIdUrl xmlns="3c757777-1ef4-4ef1-8186-b47ba6172be4">
      <Url>https://msggroup.sharepoint.com/sites/msg-research/_layouts/15/DocIdRedir.aspx?ID=XTDOC-210768851-138046</Url>
      <Description>XTDOC-210768851-138046</Description>
    </_dlc_DocIdUrl>
    <msg_Dokumententyp xmlns="f719ecbf-a19d-4b01-ba1f-7ffa0d8a5235">Schriftwechsel (allgemein)</msg_Dokumententyp>
    <TaxCatchAll xmlns="f719ecbf-a19d-4b01-ba1f-7ffa0d8a5235" xsi:nil="true"/>
    <TaxCatchAllLabel xmlns="f719ecbf-a19d-4b01-ba1f-7ffa0d8a5235" xsi:nil="true"/>
  </documentManagement>
</p:properties>
</file>

<file path=customXml/itemProps1.xml><?xml version="1.0" encoding="utf-8"?>
<ds:datastoreItem xmlns:ds="http://schemas.openxmlformats.org/officeDocument/2006/customXml" ds:itemID="{3C9A6D57-F906-42C5-8DB2-406C0A685B2B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944D6AE-BB40-4A94-BFA2-31BDD80107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19ecbf-a19d-4b01-ba1f-7ffa0d8a5235"/>
    <ds:schemaRef ds:uri="3c757777-1ef4-4ef1-8186-b47ba6172b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21FF01-A640-4A98-9260-DC33211E800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8B28453-473E-4170-96C1-E3A38E846B2E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42A2F1D6-8492-4126-8BE1-00895D33C141}">
  <ds:schemaRefs>
    <ds:schemaRef ds:uri="f719ecbf-a19d-4b01-ba1f-7ffa0d8a5235"/>
    <ds:schemaRef ds:uri="http://purl.org/dc/dcmitype/"/>
    <ds:schemaRef ds:uri="http://www.w3.org/XML/1998/namespace"/>
    <ds:schemaRef ds:uri="http://schemas.microsoft.com/office/2006/documentManagement/types"/>
    <ds:schemaRef ds:uri="3c757777-1ef4-4ef1-8186-b47ba6172be4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b563a01-caf2-48ed-8708-7300e4e42e72}" enabled="1" method="Privileged" siteId="{763b2760-45c5-46d3-883e-29705bba49b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msg Master klein</Template>
  <TotalTime>0</TotalTime>
  <Words>361</Words>
  <Application>Microsoft Office PowerPoint</Application>
  <PresentationFormat>Breitbild</PresentationFormat>
  <Paragraphs>118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msg Master klein</vt:lpstr>
      <vt:lpstr>Vorname: Nachname:</vt:lpstr>
      <vt:lpstr>Vorname: Nachname:</vt:lpstr>
      <vt:lpstr>First Name: Last Name:</vt:lpstr>
      <vt:lpstr>First Name: Last Name:</vt:lpstr>
    </vt:vector>
  </TitlesOfParts>
  <Manager>[Dokumentverantwortlicher]</Manager>
  <Company>msg systems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 Template</dc:title>
  <dc:creator>Andrea Nutsi</dc:creator>
  <cp:lastModifiedBy>Andrea Nutsi</cp:lastModifiedBy>
  <cp:revision>8</cp:revision>
  <dcterms:created xsi:type="dcterms:W3CDTF">2021-09-10T06:11:35Z</dcterms:created>
  <dcterms:modified xsi:type="dcterms:W3CDTF">2026-01-14T11:27:46Z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ezug">
    <vt:lpwstr/>
  </property>
  <property fmtid="{D5CDD505-2E9C-101B-9397-08002B2CF9AE}" pid="3" name="ContentTypeId">
    <vt:lpwstr>0x010100C7CE61CC9E288946BEFBDDE329B145E800E099B3B09A02E047B856306410CCD360</vt:lpwstr>
  </property>
  <property fmtid="{D5CDD505-2E9C-101B-9397-08002B2CF9AE}" pid="4" name="_dlc_DocIdItemGuid">
    <vt:lpwstr>f006e5e2-2b0e-4967-984b-131c4884620f</vt:lpwstr>
  </property>
  <property fmtid="{D5CDD505-2E9C-101B-9397-08002B2CF9AE}" pid="5" name="msg_AssistantVisibility">
    <vt:bool>false</vt:bool>
  </property>
  <property fmtid="{D5CDD505-2E9C-101B-9397-08002B2CF9AE}" pid="6" name="msg_DueDateChanged">
    <vt:filetime>2021-09-22T07:59:04Z</vt:filetime>
  </property>
  <property fmtid="{D5CDD505-2E9C-101B-9397-08002B2CF9AE}" pid="7" name="MediaServiceImageTags">
    <vt:lpwstr/>
  </property>
  <property fmtid="{D5CDD505-2E9C-101B-9397-08002B2CF9AE}" pid="8" name="lcf76f155ced4ddcb4097134ff3c332f">
    <vt:lpwstr/>
  </property>
  <property fmtid="{D5CDD505-2E9C-101B-9397-08002B2CF9AE}" pid="9" name="h3f1b06ce09f48098d4991f35ddb7359">
    <vt:lpwstr/>
  </property>
  <property fmtid="{D5CDD505-2E9C-101B-9397-08002B2CF9AE}" pid="10" name="msg_status0">
    <vt:lpwstr/>
  </property>
  <property fmtid="{D5CDD505-2E9C-101B-9397-08002B2CF9AE}" pid="11" name="msg_firma0">
    <vt:lpwstr/>
  </property>
  <property fmtid="{D5CDD505-2E9C-101B-9397-08002B2CF9AE}" pid="12" name="f16d888152304445aa5b35ba4716d4a8">
    <vt:lpwstr/>
  </property>
</Properties>
</file>